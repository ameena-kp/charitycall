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91F2-F468-FBF1-6891-FB043567E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A70F9-ABAB-01C2-0DF8-99EAF354B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A223A-0134-FB8F-D66C-213DDFB6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E0E12-0B7D-78B8-BC99-F9AB0708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33EF-AA54-F28C-2C91-208B516D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3205-F6AC-F17D-41C5-5688807C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2C80-6DF1-7BCA-7035-7F8CD49AB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BEAF7-7CEB-7940-36F3-61BCDE4D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82C67-E123-2D74-926F-5AB9485B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08C4E-766E-7E21-C5B5-B9508EC9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5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2105-9A80-2504-2020-1825757E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10133-6B5D-12DA-78A2-1DE4E0AC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879AC-1E73-F16B-FB9C-A4BEEDAE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AA94E-502E-0F69-6170-D0A65D18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4B5A4-F912-7744-953F-BB742030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4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D4E2-40AB-D4F4-989E-11A062A9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D33D2-F70F-D990-EAD3-97AE779D5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DC8D1-22CC-BED1-6402-8BAF0E88A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BCAC3-7C1F-AFA0-5738-76C28756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726F1-CE83-DF88-83F5-65869870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4FBBB-F433-D0E5-53B8-18604AC5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3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A669-DE39-8AEB-1F01-7E69E71E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6116D-BF09-F171-7784-BED246856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B0833-111B-5511-89E3-94B17583D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8D9EB-A25C-E0FD-C31D-FB61044AC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337A0-C93D-F41C-1A8D-A21F17E35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F356D-21F1-F5A9-59DC-BAC1C4850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857F4-8E75-DBC1-B2A2-90B29735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B069D-7C45-C55E-FDFA-638BF7CC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5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03BF-0957-07A5-B0B3-AA61E26C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CB7DB-B10B-2D68-D9E2-8C535AC0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03C-BEEB-900B-FB12-A3F77316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9FE64-EFDE-C134-7B69-FD4E52F6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0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20AF39-6CC1-8D8C-2844-DA7231DF1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FE132-C2EC-878A-4682-4464B654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AC139-3F49-9EDA-AF4E-B5EAB166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7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AB37-3FBE-6352-BEC4-C3653E3F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FB7B2-36F9-AC88-728F-5D46724D8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1A426-2887-8C33-D184-9C93356B3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CD16B-46C7-A891-259B-093AAD4A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45D26-0CD0-47EE-52EB-F1439F13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661B2-B830-D7BF-123C-208A93F6A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5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A4E5-9EE5-DB75-D503-059DC24D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39594-9C1E-A7DB-D667-9E5B51B2CC5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050D2-21F3-3F23-8208-1AF753684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6C82C-E57B-8CC2-9269-F7EB2A3EE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16CA7-97C2-C28A-D19A-D2BF2E5C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AC296-1D48-FF5A-AD9D-77EA5F2D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1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F86D-D53C-4F91-8325-15D4CA64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73645-B13E-86A9-1A44-C645F50BA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3EC4E-788A-62D3-411F-9A3071D1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EDA3-27D5-4026-D350-1775EE60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57A10-4164-08B9-53B3-D1C23980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8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97925-99E4-688D-CD97-080EB5AA5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2A34F-43F2-A108-81F4-C36E5FB4C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CAE3B-917C-DEDC-B79C-663C6B20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CA56F-24F2-B68A-36D4-A1901CA7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1CCEA-9506-CEB3-35A7-F7D75772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7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75885-7E2D-70B2-037B-794C9D75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292AB-50E5-BD0C-479F-F7A3EF756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DAF2-9AFB-BB13-B931-2E7B11F96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F773F-1994-44FB-87C3-A75C97BCB8E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00158-8C58-6D15-F162-AC2446831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018E-619E-F902-BCF0-092980905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C5C3C-5ACD-450A-9D51-66F45C62D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0F4D6-35BD-2F23-2D2F-74048CC8035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C6FFEE-6E6F-F4C3-2FD4-3785D274051D}"/>
              </a:ext>
            </a:extLst>
          </p:cNvPr>
          <p:cNvSpPr/>
          <p:nvPr/>
        </p:nvSpPr>
        <p:spPr>
          <a:xfrm>
            <a:off x="762000" y="571500"/>
            <a:ext cx="4318000" cy="355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FINAL PROJECT DEFENSE AND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7E510-5D44-317B-BE45-96CAD67FEE18}"/>
              </a:ext>
            </a:extLst>
          </p:cNvPr>
          <p:cNvSpPr txBox="1"/>
          <p:nvPr/>
        </p:nvSpPr>
        <p:spPr>
          <a:xfrm>
            <a:off x="762000" y="1079500"/>
            <a:ext cx="10668000" cy="72327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Segoe UI" panose="020B0502040204020203" pitchFamily="34" charset="0"/>
              </a:rPr>
              <a:t>CHARITY CONNECT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E7578-A8D9-8A31-2ADC-B514CD91BCC5}"/>
              </a:ext>
            </a:extLst>
          </p:cNvPr>
          <p:cNvSpPr txBox="1"/>
          <p:nvPr/>
        </p:nvSpPr>
        <p:spPr>
          <a:xfrm>
            <a:off x="762000" y="1968500"/>
            <a:ext cx="10668000" cy="307777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700">
                <a:solidFill>
                  <a:srgbClr val="93C5FD"/>
                </a:solidFill>
                <a:latin typeface="Segoe UI" panose="020B0502040204020203" pitchFamily="34" charset="0"/>
              </a:rPr>
              <a:t>A Transparent Multi-Role Charity Aid and Community Giving Management System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828B82-CC68-3B51-9E16-14D48FA4F504}"/>
              </a:ext>
            </a:extLst>
          </p:cNvPr>
          <p:cNvSpPr/>
          <p:nvPr/>
        </p:nvSpPr>
        <p:spPr>
          <a:xfrm>
            <a:off x="762000" y="2730500"/>
            <a:ext cx="5143500" cy="2984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1E611-66A6-8329-9353-3FC3270F5F43}"/>
              </a:ext>
            </a:extLst>
          </p:cNvPr>
          <p:cNvSpPr txBox="1"/>
          <p:nvPr/>
        </p:nvSpPr>
        <p:spPr>
          <a:xfrm>
            <a:off x="1016000" y="2921000"/>
            <a:ext cx="4635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60A5FA"/>
                </a:solidFill>
                <a:latin typeface="Segoe UI" panose="020B0502040204020203" pitchFamily="34" charset="0"/>
              </a:rPr>
              <a:t>PLATFORM CORE HIGHLIGHTS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758A2-C0AF-BC68-FD56-38A246836DB0}"/>
              </a:ext>
            </a:extLst>
          </p:cNvPr>
          <p:cNvSpPr txBox="1"/>
          <p:nvPr/>
        </p:nvSpPr>
        <p:spPr>
          <a:xfrm>
            <a:off x="1016000" y="3302000"/>
            <a:ext cx="4635500" cy="9387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E2E8F0"/>
                </a:solidFill>
                <a:latin typeface="Segoe UI" panose="020B0502040204020203" pitchFamily="34" charset="0"/>
              </a:rPr>
              <a:t>- Verified Charity Requests with Document Proof Upload
- Ground Volunteer Audit to Eradicate Online Fraud
- Community Offered Donations for Surplus Reusable Goods
- Full Transparent Tracking from Submission to Delivery
- Strict 10-Digit Mobile and Field Input Sanitization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C64119-01E7-CA9A-268F-39D001E7CECA}"/>
              </a:ext>
            </a:extLst>
          </p:cNvPr>
          <p:cNvSpPr/>
          <p:nvPr/>
        </p:nvSpPr>
        <p:spPr>
          <a:xfrm>
            <a:off x="6286500" y="2730500"/>
            <a:ext cx="5143500" cy="2984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CE354-1586-DD6F-F2FD-A0FFBC4B8349}"/>
              </a:ext>
            </a:extLst>
          </p:cNvPr>
          <p:cNvSpPr txBox="1"/>
          <p:nvPr/>
        </p:nvSpPr>
        <p:spPr>
          <a:xfrm>
            <a:off x="6540500" y="2921000"/>
            <a:ext cx="4635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59669"/>
                </a:solidFill>
                <a:latin typeface="Segoe UI" panose="020B0502040204020203" pitchFamily="34" charset="0"/>
              </a:rPr>
              <a:t>TECHNOLOGY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A007A-9513-8B92-2B1D-C3A77E3EFAF0}"/>
              </a:ext>
            </a:extLst>
          </p:cNvPr>
          <p:cNvSpPr txBox="1"/>
          <p:nvPr/>
        </p:nvSpPr>
        <p:spPr>
          <a:xfrm>
            <a:off x="6540500" y="3302000"/>
            <a:ext cx="4635500" cy="9387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E2E8F0"/>
                </a:solidFill>
                <a:latin typeface="Segoe UI" panose="020B0502040204020203" pitchFamily="34" charset="0"/>
              </a:rPr>
              <a:t>- Frontend: React.js SPA (Hooks, React Router, Bootstrap 5)
- Backend: Node.js and Express RESTful API Server
- Database: Relational MySQL (Normalized ACID Tables)
- Security: JWT Authentication and Bcrypt Password Hashing
- Multi-Role Hierarchy: User/Donor, Volunteer, Administrator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33BB0-15C4-0738-CDB0-C60E53B566C6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C9A45-D26C-F576-38E9-DFB414429665}"/>
              </a:ext>
            </a:extLst>
          </p:cNvPr>
          <p:cNvSpPr txBox="1"/>
          <p:nvPr/>
        </p:nvSpPr>
        <p:spPr>
          <a:xfrm>
            <a:off x="762000" y="5969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Final Year Project Examination | Charity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13037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371C09-9CE8-492C-A759-378EBD95AFB0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EC144-1A35-91B0-1581-DE9B21DC1204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2B283-193A-DA88-07B6-4C6CDF99EDC8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1. PROJECT OVERVIEW AND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B40E4-85C5-D269-B260-7E361A2784F0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What is Charity Connect and Why Was It Developed?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9A3B7C-AD3F-B1C1-C460-E37DE1D76A78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2/8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36546-24B0-8787-6AE5-CF09EB89FE82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B3D55E-F2E5-8AE3-370D-58FCBE2E174E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8B749-E011-3FD9-261A-8561CB9F577A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280D23-259F-CD87-E2C4-192A85659C63}"/>
              </a:ext>
            </a:extLst>
          </p:cNvPr>
          <p:cNvSpPr/>
          <p:nvPr/>
        </p:nvSpPr>
        <p:spPr>
          <a:xfrm>
            <a:off x="508000" y="1016000"/>
            <a:ext cx="11176000" cy="698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D371B-B403-CE8A-C7A1-D6619E6100C8}"/>
              </a:ext>
            </a:extLst>
          </p:cNvPr>
          <p:cNvSpPr txBox="1"/>
          <p:nvPr/>
        </p:nvSpPr>
        <p:spPr>
          <a:xfrm>
            <a:off x="698500" y="11049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0F172A"/>
                </a:solidFill>
                <a:latin typeface="Segoe UI" panose="020B0502040204020203" pitchFamily="34" charset="0"/>
              </a:rPr>
              <a:t>CORE MISSION: Charity Connect is a centralized digital bridge uniting individuals in genuine distress with compassionate donors through mandatory proof documentation and volunteer audits, eradicating fraudulent charity appeals.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9C5D59-BE5A-75D9-A610-9EA32BE8D214}"/>
              </a:ext>
            </a:extLst>
          </p:cNvPr>
          <p:cNvSpPr/>
          <p:nvPr/>
        </p:nvSpPr>
        <p:spPr>
          <a:xfrm>
            <a:off x="508000" y="1841500"/>
            <a:ext cx="34925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46913-785F-FD77-559E-827BFC813E36}"/>
              </a:ext>
            </a:extLst>
          </p:cNvPr>
          <p:cNvSpPr/>
          <p:nvPr/>
        </p:nvSpPr>
        <p:spPr>
          <a:xfrm>
            <a:off x="508000" y="1841500"/>
            <a:ext cx="3492500" cy="762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413C45-7452-3C3F-CDEA-F1448F75807A}"/>
              </a:ext>
            </a:extLst>
          </p:cNvPr>
          <p:cNvSpPr txBox="1"/>
          <p:nvPr/>
        </p:nvSpPr>
        <p:spPr>
          <a:xfrm>
            <a:off x="698500" y="2032000"/>
            <a:ext cx="3111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DC2626"/>
                </a:solidFill>
                <a:latin typeface="Segoe UI" panose="020B0502040204020203" pitchFamily="34" charset="0"/>
              </a:rPr>
              <a:t>THE PROBLEM IN CURRENT CHARITY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CD71AB-8449-110B-8542-2087090CE126}"/>
              </a:ext>
            </a:extLst>
          </p:cNvPr>
          <p:cNvSpPr txBox="1"/>
          <p:nvPr/>
        </p:nvSpPr>
        <p:spPr>
          <a:xfrm>
            <a:off x="698500" y="2603500"/>
            <a:ext cx="31115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- Rampant Online Scams: Crowdfunding sites often suffer from fake appeals and unverified distress campaigns.
- Donor Skepticism: Donors hesitate to give because they cannot verify if items reach genuine beneficiaries.
- Heavy Intermediary Fees: Existing commercial platforms deduct 10% to 25% in commission charges.
- Waste of Usable Surplus: Reusable household goods, clothing, and books are discarded due to lack of a local sharing channel.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5B8675-4528-EBD9-3E54-258915372CC6}"/>
              </a:ext>
            </a:extLst>
          </p:cNvPr>
          <p:cNvSpPr/>
          <p:nvPr/>
        </p:nvSpPr>
        <p:spPr>
          <a:xfrm>
            <a:off x="4343400" y="1841500"/>
            <a:ext cx="34925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4C523C-04EA-4064-E85C-078C0608CF1D}"/>
              </a:ext>
            </a:extLst>
          </p:cNvPr>
          <p:cNvSpPr/>
          <p:nvPr/>
        </p:nvSpPr>
        <p:spPr>
          <a:xfrm>
            <a:off x="4343400" y="1841500"/>
            <a:ext cx="34925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124E12-9716-68B8-CF6D-BB263BCD7319}"/>
              </a:ext>
            </a:extLst>
          </p:cNvPr>
          <p:cNvSpPr txBox="1"/>
          <p:nvPr/>
        </p:nvSpPr>
        <p:spPr>
          <a:xfrm>
            <a:off x="4533900" y="2032000"/>
            <a:ext cx="3111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Segoe UI" panose="020B0502040204020203" pitchFamily="34" charset="0"/>
              </a:rPr>
              <a:t>THE CHARITY CONNECT 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20B8E-FADF-5564-AA49-B826FA4C2C45}"/>
              </a:ext>
            </a:extLst>
          </p:cNvPr>
          <p:cNvSpPr txBox="1"/>
          <p:nvPr/>
        </p:nvSpPr>
        <p:spPr>
          <a:xfrm>
            <a:off x="4533900" y="2603500"/>
            <a:ext cx="3111500" cy="20928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- Mandatory Proof Upload: Every aid application requires valid proof documents (medical bills, income proof).
- Volunteer Verification Tier: Dedicated ground volunteers manually audit and authenticate claims before publishing.
- 0% Intermediary Cuts: Donors connect directly with verified beneficiaries without middleman fees.
- Complete Lifecycle Tracking: Track requests live: Pending -&gt; Approved -&gt; Pledged -&gt; Completed.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1129A9-313D-D461-60B2-AC5F6D0AA196}"/>
              </a:ext>
            </a:extLst>
          </p:cNvPr>
          <p:cNvSpPr/>
          <p:nvPr/>
        </p:nvSpPr>
        <p:spPr>
          <a:xfrm>
            <a:off x="8191500" y="1841500"/>
            <a:ext cx="34925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1FDDEF-8904-093D-9EAC-8A294F2986B5}"/>
              </a:ext>
            </a:extLst>
          </p:cNvPr>
          <p:cNvSpPr/>
          <p:nvPr/>
        </p:nvSpPr>
        <p:spPr>
          <a:xfrm>
            <a:off x="8191500" y="1841500"/>
            <a:ext cx="3492500" cy="762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A5A64D-F6D2-8BC8-311E-E0822084DA8A}"/>
              </a:ext>
            </a:extLst>
          </p:cNvPr>
          <p:cNvSpPr txBox="1"/>
          <p:nvPr/>
        </p:nvSpPr>
        <p:spPr>
          <a:xfrm>
            <a:off x="8382000" y="2032000"/>
            <a:ext cx="3111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59669"/>
                </a:solidFill>
                <a:latin typeface="Segoe UI" panose="020B0502040204020203" pitchFamily="34" charset="0"/>
              </a:rPr>
              <a:t>DUAL-STREAM PHILANTHROPY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BD9C5C-3BD5-5CD1-0B2B-7D6087DEE831}"/>
              </a:ext>
            </a:extLst>
          </p:cNvPr>
          <p:cNvSpPr txBox="1"/>
          <p:nvPr/>
        </p:nvSpPr>
        <p:spPr>
          <a:xfrm>
            <a:off x="8382000" y="2603500"/>
            <a:ext cx="3111500" cy="20928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- Stream 1: Urgent Aid Requests
Beneficiaries request critical items (medicines, rations, study books) supported by official proof documents.
- Stream 2: Surplus Goods Marketplace
Generous users publish items they wish to donate (clothes, furniture, appliances) with condition grading.
- Direct Community Handover
Community members browse available items and connect directly for local pickup, minimizing waste.</a:t>
            </a:r>
          </a:p>
        </p:txBody>
      </p:sp>
    </p:spTree>
    <p:extLst>
      <p:ext uri="{BB962C8B-B14F-4D97-AF65-F5344CB8AC3E}">
        <p14:creationId xmlns:p14="http://schemas.microsoft.com/office/powerpoint/2010/main" val="64911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B245B-AA44-0BFD-F1CF-F582538F201F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14A469-8DC1-78A3-CBDC-2BD191BA721C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EDF84-B355-CAC2-FA8F-853732F8CADF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2. STAKEHOLDER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A27F1-586E-61DD-137B-1B6DDAEF6BD4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The Three Distinct User Roles in Charity Connect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FC476E-B9F5-CAC4-996E-683F415CD1FB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3/8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EA11F-0B71-B4C9-1900-57639CF26F32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EF575-199A-DC6A-0176-4AC94869E468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4CD63-F959-A57E-57FF-C6E09A6F1900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8D0682-3CE2-3779-312A-850A89773E7E}"/>
              </a:ext>
            </a:extLst>
          </p:cNvPr>
          <p:cNvSpPr/>
          <p:nvPr/>
        </p:nvSpPr>
        <p:spPr>
          <a:xfrm>
            <a:off x="508000" y="1079500"/>
            <a:ext cx="34925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A9B00D-EB19-3186-C1E6-9A587C47BCD7}"/>
              </a:ext>
            </a:extLst>
          </p:cNvPr>
          <p:cNvSpPr/>
          <p:nvPr/>
        </p:nvSpPr>
        <p:spPr>
          <a:xfrm>
            <a:off x="508000" y="1079500"/>
            <a:ext cx="3492500" cy="584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34919-2045-87EA-B014-95AA5F2066BF}"/>
              </a:ext>
            </a:extLst>
          </p:cNvPr>
          <p:cNvSpPr txBox="1"/>
          <p:nvPr/>
        </p:nvSpPr>
        <p:spPr>
          <a:xfrm>
            <a:off x="635000" y="1181100"/>
            <a:ext cx="3238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ROLE 01: GENERAL USER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5EEAA-A722-0B82-0D71-525296373E4C}"/>
              </a:ext>
            </a:extLst>
          </p:cNvPr>
          <p:cNvSpPr txBox="1"/>
          <p:nvPr/>
        </p:nvSpPr>
        <p:spPr>
          <a:xfrm>
            <a:off x="698500" y="1739900"/>
            <a:ext cx="311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2563EB"/>
                </a:solidFill>
                <a:latin typeface="Segoe UI" panose="020B0502040204020203" pitchFamily="34" charset="0"/>
              </a:rPr>
              <a:t>Dual Role: Beneficiary and Donor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291DA1-5132-03C7-48DE-0893CD875708}"/>
              </a:ext>
            </a:extLst>
          </p:cNvPr>
          <p:cNvSpPr txBox="1"/>
          <p:nvPr/>
        </p:nvSpPr>
        <p:spPr>
          <a:xfrm>
            <a:off x="698500" y="2044700"/>
            <a:ext cx="31115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Key Responsibilities and Capabilities:
- Request Aid: Submit charity requests with detailed descriptions and authentic proof documents.
- Publish Offerings: Post surplus items (books, clothes, furniture) to community catalog.
- Browse and Pledge: Discover verified charity requests and pledge material donations.
- Personal Dashboard: Track status of own requests, incoming donations, and pledged items.
- Real-Time Alerts: Receive instant notification updates when requests are approved or fulfilled.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5BB008-A3F7-DB8F-A478-91E3F5B9EE6E}"/>
              </a:ext>
            </a:extLst>
          </p:cNvPr>
          <p:cNvSpPr/>
          <p:nvPr/>
        </p:nvSpPr>
        <p:spPr>
          <a:xfrm>
            <a:off x="4343400" y="1079500"/>
            <a:ext cx="34925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E3CB41-8B62-9796-4C8A-7982C1B1F495}"/>
              </a:ext>
            </a:extLst>
          </p:cNvPr>
          <p:cNvSpPr/>
          <p:nvPr/>
        </p:nvSpPr>
        <p:spPr>
          <a:xfrm>
            <a:off x="4343400" y="1079500"/>
            <a:ext cx="3492500" cy="5842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C815D-71A0-879D-5669-DE09AA75C392}"/>
              </a:ext>
            </a:extLst>
          </p:cNvPr>
          <p:cNvSpPr txBox="1"/>
          <p:nvPr/>
        </p:nvSpPr>
        <p:spPr>
          <a:xfrm>
            <a:off x="4470400" y="1181100"/>
            <a:ext cx="3238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ROLE 02: VOLUNTEER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89DA6-2895-719C-2E2B-0B19BF3446E5}"/>
              </a:ext>
            </a:extLst>
          </p:cNvPr>
          <p:cNvSpPr txBox="1"/>
          <p:nvPr/>
        </p:nvSpPr>
        <p:spPr>
          <a:xfrm>
            <a:off x="4533900" y="1739900"/>
            <a:ext cx="311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59669"/>
                </a:solidFill>
                <a:latin typeface="Segoe UI" panose="020B0502040204020203" pitchFamily="34" charset="0"/>
              </a:rPr>
              <a:t>Vetted Ground Auditors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2D0D7-CA2A-7B0F-D943-A13C4F05AFDC}"/>
              </a:ext>
            </a:extLst>
          </p:cNvPr>
          <p:cNvSpPr txBox="1"/>
          <p:nvPr/>
        </p:nvSpPr>
        <p:spPr>
          <a:xfrm>
            <a:off x="4533900" y="2044700"/>
            <a:ext cx="3111500" cy="270843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Key Responsibilities and Capabilities:
- Admin-Vetted Access: Volunteers register and must be approved by Admin before accessing system.
- Verification Portal: Dedicated workspace displaying all pending beneficiary applications.
- Document Inspection: Directly review uploaded proof files (medical bills, income certificates).
- Applicant Auditing: Verify citizen details, phone number, and residential address legitimacy.
- Approve or Reject: Officially approve verified requests for donor view, or reject invalid claims.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336619-34BC-770E-798E-E5B9B209918A}"/>
              </a:ext>
            </a:extLst>
          </p:cNvPr>
          <p:cNvSpPr/>
          <p:nvPr/>
        </p:nvSpPr>
        <p:spPr>
          <a:xfrm>
            <a:off x="8191500" y="1079500"/>
            <a:ext cx="34925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CA31C5-F35F-B1C8-C951-C8DFD3F81B9B}"/>
              </a:ext>
            </a:extLst>
          </p:cNvPr>
          <p:cNvSpPr/>
          <p:nvPr/>
        </p:nvSpPr>
        <p:spPr>
          <a:xfrm>
            <a:off x="8191500" y="1079500"/>
            <a:ext cx="3492500" cy="5842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0ABFDB-9451-8E66-3DA8-1AAECF4D5FE9}"/>
              </a:ext>
            </a:extLst>
          </p:cNvPr>
          <p:cNvSpPr txBox="1"/>
          <p:nvPr/>
        </p:nvSpPr>
        <p:spPr>
          <a:xfrm>
            <a:off x="8318500" y="1181100"/>
            <a:ext cx="3238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ROLE 03: ADMINISTRATOR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8774AA-5656-EA47-2776-0107EF0062CF}"/>
              </a:ext>
            </a:extLst>
          </p:cNvPr>
          <p:cNvSpPr txBox="1"/>
          <p:nvPr/>
        </p:nvSpPr>
        <p:spPr>
          <a:xfrm>
            <a:off x="8382000" y="1739900"/>
            <a:ext cx="311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D28D9"/>
                </a:solidFill>
                <a:latin typeface="Segoe UI" panose="020B0502040204020203" pitchFamily="34" charset="0"/>
              </a:rPr>
              <a:t>Platform Governance and Security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919C52-BC35-84B3-B9F4-37B9C73EFCE0}"/>
              </a:ext>
            </a:extLst>
          </p:cNvPr>
          <p:cNvSpPr txBox="1"/>
          <p:nvPr/>
        </p:nvSpPr>
        <p:spPr>
          <a:xfrm>
            <a:off x="8382000" y="2044700"/>
            <a:ext cx="31115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Key Responsibilities and Capabilities:
- Volunteer Governance: Screen volunteer registrations; grant or revoke verification authority.
- User Management: Audit all registered citizens; block fraudulent or disruptive accounts.
- Analytics Dashboard: Live metrics on total users, pending/approved requests, and completed pledges.
- Broadcast Messaging: Send global announcements or direct targeted notifications to users.
- Feedback Monitoring: Review user inquiries, complaints, and service satisfaction reviews.</a:t>
            </a:r>
          </a:p>
        </p:txBody>
      </p:sp>
    </p:spTree>
    <p:extLst>
      <p:ext uri="{BB962C8B-B14F-4D97-AF65-F5344CB8AC3E}">
        <p14:creationId xmlns:p14="http://schemas.microsoft.com/office/powerpoint/2010/main" val="230461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418D0-71D2-CD07-0A3B-05500B79E4EF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A95B7-1BAC-A11F-F999-409F30043601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E891F-428F-FD03-E412-5CF4E7936897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3. WORKFLOW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F4A28-936E-00D6-B87A-0CD0D885DBBA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End-to-End Graphical Workflow of Charity Connect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3EAC2A-2AA8-66F4-8790-0A87DF286AB3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4/8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E4AE4-A019-339E-FB14-8ACE904D424B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F3C1E-7CE7-B6C2-494F-4F3858385D04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A2989-0193-37E4-4D4E-F525253F6B3C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35481-A2ED-2823-72B7-F5622C120EC8}"/>
              </a:ext>
            </a:extLst>
          </p:cNvPr>
          <p:cNvSpPr txBox="1"/>
          <p:nvPr/>
        </p:nvSpPr>
        <p:spPr>
          <a:xfrm>
            <a:off x="508000" y="952500"/>
            <a:ext cx="698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Segoe UI" panose="020B0502040204020203" pitchFamily="34" charset="0"/>
              </a:rPr>
              <a:t>PIPELINE A: VERIFIED AID REQUEST LIFECYCLE (CRITICAL ASSISTANCE)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6EA4E3-96FD-150A-1BCD-3672A25B4C6B}"/>
              </a:ext>
            </a:extLst>
          </p:cNvPr>
          <p:cNvSpPr/>
          <p:nvPr/>
        </p:nvSpPr>
        <p:spPr>
          <a:xfrm>
            <a:off x="508000" y="1295400"/>
            <a:ext cx="1905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8445B0-2513-3B4C-DD41-0B2EDA8E7301}"/>
              </a:ext>
            </a:extLst>
          </p:cNvPr>
          <p:cNvSpPr/>
          <p:nvPr/>
        </p:nvSpPr>
        <p:spPr>
          <a:xfrm>
            <a:off x="508000" y="1295400"/>
            <a:ext cx="1905000" cy="355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5B8D1C-DBCE-6DF5-9382-C2B1AE181C58}"/>
              </a:ext>
            </a:extLst>
          </p:cNvPr>
          <p:cNvSpPr txBox="1"/>
          <p:nvPr/>
        </p:nvSpPr>
        <p:spPr>
          <a:xfrm>
            <a:off x="508000" y="1346200"/>
            <a:ext cx="190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STAGE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E2EE7-9F17-4D5D-879A-EA6C152A2D3D}"/>
              </a:ext>
            </a:extLst>
          </p:cNvPr>
          <p:cNvSpPr txBox="1"/>
          <p:nvPr/>
        </p:nvSpPr>
        <p:spPr>
          <a:xfrm>
            <a:off x="584200" y="1727200"/>
            <a:ext cx="1752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2563EB"/>
                </a:solidFill>
                <a:latin typeface="Segoe UI" panose="020B0502040204020203" pitchFamily="34" charset="0"/>
              </a:rPr>
              <a:t>SUBMISSION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804267-2AA1-C1E2-CE96-148329C24B1C}"/>
              </a:ext>
            </a:extLst>
          </p:cNvPr>
          <p:cNvSpPr txBox="1"/>
          <p:nvPr/>
        </p:nvSpPr>
        <p:spPr>
          <a:xfrm>
            <a:off x="609600" y="2082800"/>
            <a:ext cx="17018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Beneficiary fills validated form, specifies required items and uploads proof doc (PDF/Image).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8C3C59-F202-9E62-976B-DB39F3E4CE5A}"/>
              </a:ext>
            </a:extLst>
          </p:cNvPr>
          <p:cNvSpPr/>
          <p:nvPr/>
        </p:nvSpPr>
        <p:spPr>
          <a:xfrm>
            <a:off x="2819400" y="1295400"/>
            <a:ext cx="1905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50675-2230-2300-2F7C-7F79AB79D53C}"/>
              </a:ext>
            </a:extLst>
          </p:cNvPr>
          <p:cNvSpPr/>
          <p:nvPr/>
        </p:nvSpPr>
        <p:spPr>
          <a:xfrm>
            <a:off x="2819400" y="1295400"/>
            <a:ext cx="1905000" cy="3556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CE79E7-7F5D-D265-7644-7CEAF366E2F3}"/>
              </a:ext>
            </a:extLst>
          </p:cNvPr>
          <p:cNvSpPr txBox="1"/>
          <p:nvPr/>
        </p:nvSpPr>
        <p:spPr>
          <a:xfrm>
            <a:off x="2819400" y="1346200"/>
            <a:ext cx="190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STAGE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67C720-5009-7937-C32E-12370A5AE620}"/>
              </a:ext>
            </a:extLst>
          </p:cNvPr>
          <p:cNvSpPr txBox="1"/>
          <p:nvPr/>
        </p:nvSpPr>
        <p:spPr>
          <a:xfrm>
            <a:off x="2895600" y="1727200"/>
            <a:ext cx="1752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D97706"/>
                </a:solidFill>
                <a:latin typeface="Segoe UI" panose="020B0502040204020203" pitchFamily="34" charset="0"/>
              </a:rPr>
              <a:t>VERIFICATION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E86DB-FF0B-C7A4-C726-F8A7E987243D}"/>
              </a:ext>
            </a:extLst>
          </p:cNvPr>
          <p:cNvSpPr txBox="1"/>
          <p:nvPr/>
        </p:nvSpPr>
        <p:spPr>
          <a:xfrm>
            <a:off x="2921000" y="2082800"/>
            <a:ext cx="17018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Volunteer Team audits claims, inspects proof document, and verifies applicant legitimacy.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3D92B3-3DB1-7C1A-4EA1-51CAF1BEB9A8}"/>
              </a:ext>
            </a:extLst>
          </p:cNvPr>
          <p:cNvSpPr/>
          <p:nvPr/>
        </p:nvSpPr>
        <p:spPr>
          <a:xfrm>
            <a:off x="5130800" y="1295400"/>
            <a:ext cx="1905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5B809-777C-2911-EB0F-5B7C0ACC3E6A}"/>
              </a:ext>
            </a:extLst>
          </p:cNvPr>
          <p:cNvSpPr/>
          <p:nvPr/>
        </p:nvSpPr>
        <p:spPr>
          <a:xfrm>
            <a:off x="5130800" y="1295400"/>
            <a:ext cx="1905000" cy="3556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04CB4F-CEA3-4711-AFC0-8614572625B2}"/>
              </a:ext>
            </a:extLst>
          </p:cNvPr>
          <p:cNvSpPr txBox="1"/>
          <p:nvPr/>
        </p:nvSpPr>
        <p:spPr>
          <a:xfrm>
            <a:off x="5130800" y="1346200"/>
            <a:ext cx="190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STAGE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3C5F5B-AF11-F78E-6C61-E85CE1938915}"/>
              </a:ext>
            </a:extLst>
          </p:cNvPr>
          <p:cNvSpPr txBox="1"/>
          <p:nvPr/>
        </p:nvSpPr>
        <p:spPr>
          <a:xfrm>
            <a:off x="5207000" y="1727200"/>
            <a:ext cx="1752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059669"/>
                </a:solidFill>
                <a:latin typeface="Segoe UI" panose="020B0502040204020203" pitchFamily="34" charset="0"/>
              </a:rPr>
              <a:t>PUBLISHING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B94A0-D137-5942-04C7-39426C2A9931}"/>
              </a:ext>
            </a:extLst>
          </p:cNvPr>
          <p:cNvSpPr txBox="1"/>
          <p:nvPr/>
        </p:nvSpPr>
        <p:spPr>
          <a:xfrm>
            <a:off x="5232400" y="2082800"/>
            <a:ext cx="17018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Approved requests enter the public Browse Feed with 'Approved' badge for donors.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6E9CD19-52B7-FE88-B85F-3DD6FBE9EE93}"/>
              </a:ext>
            </a:extLst>
          </p:cNvPr>
          <p:cNvSpPr/>
          <p:nvPr/>
        </p:nvSpPr>
        <p:spPr>
          <a:xfrm>
            <a:off x="7442200" y="1295400"/>
            <a:ext cx="1905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03F4E2-47AC-C24D-BE8A-95B018C8E453}"/>
              </a:ext>
            </a:extLst>
          </p:cNvPr>
          <p:cNvSpPr/>
          <p:nvPr/>
        </p:nvSpPr>
        <p:spPr>
          <a:xfrm>
            <a:off x="7442200" y="1295400"/>
            <a:ext cx="1905000" cy="3556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D69E35-6C82-E75F-1254-004221F15C15}"/>
              </a:ext>
            </a:extLst>
          </p:cNvPr>
          <p:cNvSpPr txBox="1"/>
          <p:nvPr/>
        </p:nvSpPr>
        <p:spPr>
          <a:xfrm>
            <a:off x="7442200" y="1346200"/>
            <a:ext cx="190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STAGE 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43A37C-B812-4E11-E59B-9E6BE9822151}"/>
              </a:ext>
            </a:extLst>
          </p:cNvPr>
          <p:cNvSpPr txBox="1"/>
          <p:nvPr/>
        </p:nvSpPr>
        <p:spPr>
          <a:xfrm>
            <a:off x="7518400" y="1727200"/>
            <a:ext cx="1752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6D28D9"/>
                </a:solidFill>
                <a:latin typeface="Segoe UI" panose="020B0502040204020203" pitchFamily="34" charset="0"/>
              </a:rPr>
              <a:t>DONOR PLEDGE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5D2235-EA6B-567E-EF26-B826CFB74137}"/>
              </a:ext>
            </a:extLst>
          </p:cNvPr>
          <p:cNvSpPr txBox="1"/>
          <p:nvPr/>
        </p:nvSpPr>
        <p:spPr>
          <a:xfrm>
            <a:off x="7543800" y="2082800"/>
            <a:ext cx="17018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Donors browse verified needs, pledge quantity, and commit to fulfill requirements.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FC243A1-C40D-1F3B-14CF-38A4F675BB5D}"/>
              </a:ext>
            </a:extLst>
          </p:cNvPr>
          <p:cNvSpPr/>
          <p:nvPr/>
        </p:nvSpPr>
        <p:spPr>
          <a:xfrm>
            <a:off x="9753600" y="1295400"/>
            <a:ext cx="1905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A196A5-1372-F1FB-7680-1D94F066E098}"/>
              </a:ext>
            </a:extLst>
          </p:cNvPr>
          <p:cNvSpPr/>
          <p:nvPr/>
        </p:nvSpPr>
        <p:spPr>
          <a:xfrm>
            <a:off x="9753600" y="1295400"/>
            <a:ext cx="1905000" cy="355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C56260-F04D-7E5A-57DA-9CF14F3056ED}"/>
              </a:ext>
            </a:extLst>
          </p:cNvPr>
          <p:cNvSpPr txBox="1"/>
          <p:nvPr/>
        </p:nvSpPr>
        <p:spPr>
          <a:xfrm>
            <a:off x="9753600" y="1346200"/>
            <a:ext cx="190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STAGE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C8F65D-23FB-34B6-3783-35C0B71F5920}"/>
              </a:ext>
            </a:extLst>
          </p:cNvPr>
          <p:cNvSpPr txBox="1"/>
          <p:nvPr/>
        </p:nvSpPr>
        <p:spPr>
          <a:xfrm>
            <a:off x="9829800" y="1727200"/>
            <a:ext cx="1752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0F172A"/>
                </a:solidFill>
                <a:latin typeface="Segoe UI" panose="020B0502040204020203" pitchFamily="34" charset="0"/>
              </a:rPr>
              <a:t>FULFILLMENT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9D6FC-C685-9B41-1449-18E093548887}"/>
              </a:ext>
            </a:extLst>
          </p:cNvPr>
          <p:cNvSpPr txBox="1"/>
          <p:nvPr/>
        </p:nvSpPr>
        <p:spPr>
          <a:xfrm>
            <a:off x="9855200" y="2082800"/>
            <a:ext cx="17018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Items are delivered, marked 'Completed', and logged in audit analytics.</a:t>
            </a:r>
          </a:p>
        </p:txBody>
      </p:sp>
      <p:sp>
        <p:nvSpPr>
          <p:cNvPr id="36" name="Cylinder 35">
            <a:extLst>
              <a:ext uri="{FF2B5EF4-FFF2-40B4-BE49-F238E27FC236}">
                <a16:creationId xmlns:a16="http://schemas.microsoft.com/office/drawing/2014/main" id="{FA4CF7E6-30EC-B7CC-74EA-5AF74692CD92}"/>
              </a:ext>
            </a:extLst>
          </p:cNvPr>
          <p:cNvSpPr/>
          <p:nvPr/>
        </p:nvSpPr>
        <p:spPr>
          <a:xfrm>
            <a:off x="2489200" y="2222500"/>
            <a:ext cx="254000" cy="254000"/>
          </a:xfrm>
          <a:prstGeom prst="can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3D246D0F-CB95-1FAF-2B44-4E7BC2209F00}"/>
              </a:ext>
            </a:extLst>
          </p:cNvPr>
          <p:cNvSpPr/>
          <p:nvPr/>
        </p:nvSpPr>
        <p:spPr>
          <a:xfrm>
            <a:off x="4800600" y="2222500"/>
            <a:ext cx="254000" cy="254000"/>
          </a:xfrm>
          <a:prstGeom prst="can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ylinder 37">
            <a:extLst>
              <a:ext uri="{FF2B5EF4-FFF2-40B4-BE49-F238E27FC236}">
                <a16:creationId xmlns:a16="http://schemas.microsoft.com/office/drawing/2014/main" id="{3941EC22-B672-70AC-1424-16F19C4610CC}"/>
              </a:ext>
            </a:extLst>
          </p:cNvPr>
          <p:cNvSpPr/>
          <p:nvPr/>
        </p:nvSpPr>
        <p:spPr>
          <a:xfrm>
            <a:off x="7112000" y="2222500"/>
            <a:ext cx="254000" cy="254000"/>
          </a:xfrm>
          <a:prstGeom prst="can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CA29DDCA-37C1-1AA1-8C5C-374A43DDADE6}"/>
              </a:ext>
            </a:extLst>
          </p:cNvPr>
          <p:cNvSpPr/>
          <p:nvPr/>
        </p:nvSpPr>
        <p:spPr>
          <a:xfrm>
            <a:off x="9423400" y="2222500"/>
            <a:ext cx="254000" cy="254000"/>
          </a:xfrm>
          <a:prstGeom prst="can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A324E0-CBCB-3461-ADE4-E18B86B3CF7E}"/>
              </a:ext>
            </a:extLst>
          </p:cNvPr>
          <p:cNvSpPr txBox="1"/>
          <p:nvPr/>
        </p:nvSpPr>
        <p:spPr>
          <a:xfrm>
            <a:off x="508000" y="3683000"/>
            <a:ext cx="762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059669"/>
                </a:solidFill>
                <a:latin typeface="Segoe UI" panose="020B0502040204020203" pitchFamily="34" charset="0"/>
              </a:rPr>
              <a:t>PIPELINE B: COMMUNITY OFFERED DONATIONS (SURPLUS REDISTRIBUTION)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38BC4B3-FCCD-528A-BA55-703B53685233}"/>
              </a:ext>
            </a:extLst>
          </p:cNvPr>
          <p:cNvSpPr/>
          <p:nvPr/>
        </p:nvSpPr>
        <p:spPr>
          <a:xfrm>
            <a:off x="508000" y="4064000"/>
            <a:ext cx="3365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3661D4-90D0-3445-78CC-13A7E3BAF124}"/>
              </a:ext>
            </a:extLst>
          </p:cNvPr>
          <p:cNvSpPr/>
          <p:nvPr/>
        </p:nvSpPr>
        <p:spPr>
          <a:xfrm>
            <a:off x="508000" y="4064000"/>
            <a:ext cx="3365500" cy="3302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695190-7BDA-9691-6118-0BB30713641B}"/>
              </a:ext>
            </a:extLst>
          </p:cNvPr>
          <p:cNvSpPr txBox="1"/>
          <p:nvPr/>
        </p:nvSpPr>
        <p:spPr>
          <a:xfrm>
            <a:off x="635000" y="4102100"/>
            <a:ext cx="311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1. PUBLISH SURPLUS GOODS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F39BEE-0B11-727A-DC20-30E1F06E3BA0}"/>
              </a:ext>
            </a:extLst>
          </p:cNvPr>
          <p:cNvSpPr txBox="1"/>
          <p:nvPr/>
        </p:nvSpPr>
        <p:spPr>
          <a:xfrm>
            <a:off x="660400" y="4495800"/>
            <a:ext cx="30607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Citizen creates an offering: books, clothes, or appliances. Specifies quantity, condition (Like New, Good), location and 10-digit phone.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8AF177B-DBE2-D6D2-B183-E97572B769B2}"/>
              </a:ext>
            </a:extLst>
          </p:cNvPr>
          <p:cNvSpPr/>
          <p:nvPr/>
        </p:nvSpPr>
        <p:spPr>
          <a:xfrm>
            <a:off x="4406900" y="4064000"/>
            <a:ext cx="3365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F339BC-40FD-13A1-BBF8-2F9014A66D23}"/>
              </a:ext>
            </a:extLst>
          </p:cNvPr>
          <p:cNvSpPr/>
          <p:nvPr/>
        </p:nvSpPr>
        <p:spPr>
          <a:xfrm>
            <a:off x="4406900" y="4064000"/>
            <a:ext cx="3365500" cy="330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6A9BAC-1036-8C75-B524-F1FF70A20951}"/>
              </a:ext>
            </a:extLst>
          </p:cNvPr>
          <p:cNvSpPr txBox="1"/>
          <p:nvPr/>
        </p:nvSpPr>
        <p:spPr>
          <a:xfrm>
            <a:off x="4533900" y="4102100"/>
            <a:ext cx="311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2. COMMUNITY DISCOVERY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2A19C3-27CB-F893-B8F0-E52FDD974670}"/>
              </a:ext>
            </a:extLst>
          </p:cNvPr>
          <p:cNvSpPr txBox="1"/>
          <p:nvPr/>
        </p:nvSpPr>
        <p:spPr>
          <a:xfrm>
            <a:off x="4559300" y="4495800"/>
            <a:ext cx="30607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Users explore Community Items catalog with live search. Platform smartly filters out user's own items to prevent self-claiming.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F147088-2C3B-B758-DC4F-E098F5B7DFDB}"/>
              </a:ext>
            </a:extLst>
          </p:cNvPr>
          <p:cNvSpPr/>
          <p:nvPr/>
        </p:nvSpPr>
        <p:spPr>
          <a:xfrm>
            <a:off x="8305800" y="4064000"/>
            <a:ext cx="3365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CE57BF3-40E9-126E-149E-F8673C57CDF6}"/>
              </a:ext>
            </a:extLst>
          </p:cNvPr>
          <p:cNvSpPr/>
          <p:nvPr/>
        </p:nvSpPr>
        <p:spPr>
          <a:xfrm>
            <a:off x="8305800" y="4064000"/>
            <a:ext cx="3365500" cy="330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0168E-9DE4-BE50-27E0-2D440820CCF3}"/>
              </a:ext>
            </a:extLst>
          </p:cNvPr>
          <p:cNvSpPr txBox="1"/>
          <p:nvPr/>
        </p:nvSpPr>
        <p:spPr>
          <a:xfrm>
            <a:off x="8432800" y="4102100"/>
            <a:ext cx="311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3. DIRECT HANDOVER AND STATUS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D03DAB-CA24-5C09-F1A8-81B3C68CD006}"/>
              </a:ext>
            </a:extLst>
          </p:cNvPr>
          <p:cNvSpPr txBox="1"/>
          <p:nvPr/>
        </p:nvSpPr>
        <p:spPr>
          <a:xfrm>
            <a:off x="8458200" y="4495800"/>
            <a:ext cx="30607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Interested seekers contact donor directly for pickup. Donor marks item as 'Reserved' and then 'Donated' upon completion.</a:t>
            </a:r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CB04A4B8-D80B-6385-5752-AFFE86FF12BF}"/>
              </a:ext>
            </a:extLst>
          </p:cNvPr>
          <p:cNvSpPr/>
          <p:nvPr/>
        </p:nvSpPr>
        <p:spPr>
          <a:xfrm>
            <a:off x="4000500" y="4889500"/>
            <a:ext cx="279400" cy="254000"/>
          </a:xfrm>
          <a:prstGeom prst="can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F1FF1A19-A8E3-888A-566E-C45CEAAF0CF6}"/>
              </a:ext>
            </a:extLst>
          </p:cNvPr>
          <p:cNvSpPr/>
          <p:nvPr/>
        </p:nvSpPr>
        <p:spPr>
          <a:xfrm>
            <a:off x="7899400" y="4889500"/>
            <a:ext cx="279400" cy="254000"/>
          </a:xfrm>
          <a:prstGeom prst="can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81CC384-0E1E-111B-1E0A-D06932B985FC}"/>
              </a:ext>
            </a:extLst>
          </p:cNvPr>
          <p:cNvSpPr/>
          <p:nvPr/>
        </p:nvSpPr>
        <p:spPr>
          <a:xfrm>
            <a:off x="508000" y="6159500"/>
            <a:ext cx="11176000" cy="30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39C568-43F3-C28C-D1F4-C7DA74F1EBB6}"/>
              </a:ext>
            </a:extLst>
          </p:cNvPr>
          <p:cNvSpPr txBox="1"/>
          <p:nvPr/>
        </p:nvSpPr>
        <p:spPr>
          <a:xfrm>
            <a:off x="571500" y="6184900"/>
            <a:ext cx="1104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64748B"/>
                </a:solidFill>
                <a:latin typeface="Segoe UI" panose="020B0502040204020203" pitchFamily="34" charset="0"/>
              </a:rPr>
              <a:t>GOVERNANCE LAYER: Administrator continuously monitors logs, reviews feedback, audits volunteer actions, and broadcasts platform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09853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235EB5-DFE7-9E03-2745-BFC385A319DB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D282F-BEFB-D27D-18C6-B8F5E5D84DC3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E25EA-B502-47CC-F325-6FA6CDB14758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4. FUNCTIONAL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25DB4-B11F-0495-0F47-5444363349E1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Core Operational Modules and Technical Capabilities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AAA9D7-584F-CAFF-0844-8D16B54BDCA7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5/8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94F86-0076-4715-81AE-3FDBDE3E73B1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002C9-3FAC-861A-D441-CD541F8B0A5E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6FDD4-A794-37A5-532F-501A6999EE62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AFFD55-C129-27C2-B943-F74270D252EF}"/>
              </a:ext>
            </a:extLst>
          </p:cNvPr>
          <p:cNvSpPr/>
          <p:nvPr/>
        </p:nvSpPr>
        <p:spPr>
          <a:xfrm>
            <a:off x="508000" y="1079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04CE77-A26F-4966-3CEC-E91B3D7D6CA5}"/>
              </a:ext>
            </a:extLst>
          </p:cNvPr>
          <p:cNvSpPr/>
          <p:nvPr/>
        </p:nvSpPr>
        <p:spPr>
          <a:xfrm>
            <a:off x="508000" y="1079500"/>
            <a:ext cx="53975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E6B69-4E67-FB29-D726-7507EA1ACD16}"/>
              </a:ext>
            </a:extLst>
          </p:cNvPr>
          <p:cNvSpPr txBox="1"/>
          <p:nvPr/>
        </p:nvSpPr>
        <p:spPr>
          <a:xfrm>
            <a:off x="698500" y="1231900"/>
            <a:ext cx="5016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2563EB"/>
                </a:solidFill>
                <a:latin typeface="Segoe UI" panose="020B0502040204020203" pitchFamily="34" charset="0"/>
              </a:rPr>
              <a:t>MODULE 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9C3D3A-B806-3DAF-508C-489189AB2962}"/>
              </a:ext>
            </a:extLst>
          </p:cNvPr>
          <p:cNvSpPr txBox="1"/>
          <p:nvPr/>
        </p:nvSpPr>
        <p:spPr>
          <a:xfrm>
            <a:off x="698500" y="14351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CHARITY REQUEST AND VERIFICATION 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80893-24E1-D89A-CDDE-932E8C0C02E8}"/>
              </a:ext>
            </a:extLst>
          </p:cNvPr>
          <p:cNvSpPr txBox="1"/>
          <p:nvPr/>
        </p:nvSpPr>
        <p:spPr>
          <a:xfrm>
            <a:off x="698500" y="1739900"/>
            <a:ext cx="5016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Multipart Form and File Uploader: Built with Multer; accepts proof PDFs and images up to 5MB with sanitized naming.
- Mandatory Fields Validation: Requires minimum 5-char title, 15-char explanation, and specific required item quantities.
- Lifecycle State Machine: Manages transitions between 'Pending', 'Approved', and 'Rejected' with database locking.
- Self-Donation Guard: Smart business rule blocks creators from donating to their own charity applications.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B2D651-B711-8542-1A63-8B1063132FB1}"/>
              </a:ext>
            </a:extLst>
          </p:cNvPr>
          <p:cNvSpPr/>
          <p:nvPr/>
        </p:nvSpPr>
        <p:spPr>
          <a:xfrm>
            <a:off x="6286500" y="1079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E0B0DC-1287-EF0E-F07B-20DBC0D1FAE2}"/>
              </a:ext>
            </a:extLst>
          </p:cNvPr>
          <p:cNvSpPr/>
          <p:nvPr/>
        </p:nvSpPr>
        <p:spPr>
          <a:xfrm>
            <a:off x="6286500" y="1079500"/>
            <a:ext cx="5397500" cy="635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43BE2-5120-8E6D-8640-3AE8B6BE6BE5}"/>
              </a:ext>
            </a:extLst>
          </p:cNvPr>
          <p:cNvSpPr txBox="1"/>
          <p:nvPr/>
        </p:nvSpPr>
        <p:spPr>
          <a:xfrm>
            <a:off x="6477000" y="1231900"/>
            <a:ext cx="5016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059669"/>
                </a:solidFill>
                <a:latin typeface="Segoe UI" panose="020B0502040204020203" pitchFamily="34" charset="0"/>
              </a:rPr>
              <a:t>MODULE 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646948-4EAB-DA5C-7488-CD4B8E5A4553}"/>
              </a:ext>
            </a:extLst>
          </p:cNvPr>
          <p:cNvSpPr txBox="1"/>
          <p:nvPr/>
        </p:nvSpPr>
        <p:spPr>
          <a:xfrm>
            <a:off x="6477000" y="14351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VOLUNTEER AUDIT AND INSPECTION PORTAL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7075F4-3CE3-E705-5854-5C6BDDB6DABE}"/>
              </a:ext>
            </a:extLst>
          </p:cNvPr>
          <p:cNvSpPr txBox="1"/>
          <p:nvPr/>
        </p:nvSpPr>
        <p:spPr>
          <a:xfrm>
            <a:off x="6477000" y="1739900"/>
            <a:ext cx="5016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Dedicated Volunteer Workspace: Clean UI restricted to approved ground verification team members.
- Live Document Inspector: Enables direct viewing and downloading of applicant proof documents for claim validation.
- One-Click Action Workflow: Volunteer evaluates evidence, updates status, and categorizes requests (Medical, Food, Education).
- Fraud Barrier: Zero requests appear on public donation feed without prior volunteer authentication.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FCAF53-4756-3A9E-638C-64D985106756}"/>
              </a:ext>
            </a:extLst>
          </p:cNvPr>
          <p:cNvSpPr/>
          <p:nvPr/>
        </p:nvSpPr>
        <p:spPr>
          <a:xfrm>
            <a:off x="508000" y="3746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BAAF77-FA77-7E95-8321-14C3C2413F3E}"/>
              </a:ext>
            </a:extLst>
          </p:cNvPr>
          <p:cNvSpPr/>
          <p:nvPr/>
        </p:nvSpPr>
        <p:spPr>
          <a:xfrm>
            <a:off x="508000" y="3746500"/>
            <a:ext cx="5397500" cy="63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545DD3-C59D-C9E7-6039-0949698D4DAA}"/>
              </a:ext>
            </a:extLst>
          </p:cNvPr>
          <p:cNvSpPr txBox="1"/>
          <p:nvPr/>
        </p:nvSpPr>
        <p:spPr>
          <a:xfrm>
            <a:off x="698500" y="3898900"/>
            <a:ext cx="5016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D97706"/>
                </a:solidFill>
                <a:latin typeface="Segoe UI" panose="020B0502040204020203" pitchFamily="34" charset="0"/>
              </a:rPr>
              <a:t>MODULE 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991C8F-57A2-57BF-DB93-B60608BE9881}"/>
              </a:ext>
            </a:extLst>
          </p:cNvPr>
          <p:cNvSpPr txBox="1"/>
          <p:nvPr/>
        </p:nvSpPr>
        <p:spPr>
          <a:xfrm>
            <a:off x="698500" y="41021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COMMUNITY OFFERED DONATIONS MARKETPLACE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6C6875-E3E9-CBD2-88C3-8C80A3A367B2}"/>
              </a:ext>
            </a:extLst>
          </p:cNvPr>
          <p:cNvSpPr txBox="1"/>
          <p:nvPr/>
        </p:nvSpPr>
        <p:spPr>
          <a:xfrm>
            <a:off x="698500" y="4406900"/>
            <a:ext cx="5016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Surplus Item Publishing: Users publish physical items (books, clothes, appliances) with condition ratings.
- Intelligent Catalog Filtering: Filters out logged-in user's items from the browse feed so users do not see their own listings.
- Contact and Location Tagging: Enforces strictly validated 10-digit phone numbers and city pickup location for safe handover.
- Item Reservation Flow: Donors easily transition status from 'Available' to 'Reserved' and 'Donated'.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A0C343A-FD57-7F29-9D39-255017843D28}"/>
              </a:ext>
            </a:extLst>
          </p:cNvPr>
          <p:cNvSpPr/>
          <p:nvPr/>
        </p:nvSpPr>
        <p:spPr>
          <a:xfrm>
            <a:off x="6286500" y="3746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8652C6-95BB-F3E2-641F-BF8E07487364}"/>
              </a:ext>
            </a:extLst>
          </p:cNvPr>
          <p:cNvSpPr/>
          <p:nvPr/>
        </p:nvSpPr>
        <p:spPr>
          <a:xfrm>
            <a:off x="6286500" y="3746500"/>
            <a:ext cx="5397500" cy="635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E1E570-7749-EAFF-A6C1-AFB1D48822B0}"/>
              </a:ext>
            </a:extLst>
          </p:cNvPr>
          <p:cNvSpPr txBox="1"/>
          <p:nvPr/>
        </p:nvSpPr>
        <p:spPr>
          <a:xfrm>
            <a:off x="6477000" y="3898900"/>
            <a:ext cx="5016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6D28D9"/>
                </a:solidFill>
                <a:latin typeface="Segoe UI" panose="020B0502040204020203" pitchFamily="34" charset="0"/>
              </a:rPr>
              <a:t>MODULE 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922306-FBFB-3BCA-5B2E-0840F4EDBE8F}"/>
              </a:ext>
            </a:extLst>
          </p:cNvPr>
          <p:cNvSpPr txBox="1"/>
          <p:nvPr/>
        </p:nvSpPr>
        <p:spPr>
          <a:xfrm>
            <a:off x="6477000" y="41021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ADMIN GOVERNANCE AND SECURITY CONTROLLER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F5E1B8-24BB-A2E8-4CA8-286AE11E9B85}"/>
              </a:ext>
            </a:extLst>
          </p:cNvPr>
          <p:cNvSpPr txBox="1"/>
          <p:nvPr/>
        </p:nvSpPr>
        <p:spPr>
          <a:xfrm>
            <a:off x="6477000" y="4406900"/>
            <a:ext cx="5016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Role-Based Access Control (RBAC): JWT authentication with token validation across all private endpoints.
- Multi-Tab Session Isolation: Dynamic storage allows simultaneous testing across User, Volunteer, and Admin in separate tabs.
- Broadcast and Direct Notifications: Admin can dispatch global alerts or targeted user notifications stored in database.
- Audit Logs and User Moderation: Immediate ability to block bad actors and approve or reject volunteer registrations.</a:t>
            </a:r>
          </a:p>
        </p:txBody>
      </p:sp>
    </p:spTree>
    <p:extLst>
      <p:ext uri="{BB962C8B-B14F-4D97-AF65-F5344CB8AC3E}">
        <p14:creationId xmlns:p14="http://schemas.microsoft.com/office/powerpoint/2010/main" val="109018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DA8A31-B85C-5297-20DF-B71809236C77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2DB397-04D4-0986-B8F1-88596D411502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AACE0-4306-76AC-7DA0-FCF8202F9DDA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5. SYSTEM 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4F243-A241-62F9-A52A-1221AA3D43D7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Key Strategic Benefits of Charity Connect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D43341-37A4-0063-2D1C-DFE54309F21D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6/8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EBB11-F1D9-F190-A1B9-3D0BCB16CC7B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33D68-E52E-37E0-8195-F9E9846F618D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D5FD95-095D-BDAE-3B8A-D7B03037FF2D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4044CB-261A-C3FA-BEFB-36E80A106170}"/>
              </a:ext>
            </a:extLst>
          </p:cNvPr>
          <p:cNvSpPr/>
          <p:nvPr/>
        </p:nvSpPr>
        <p:spPr>
          <a:xfrm>
            <a:off x="508000" y="1079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4D8659-CC2F-8E8D-C1D1-3A34889DDF64}"/>
              </a:ext>
            </a:extLst>
          </p:cNvPr>
          <p:cNvSpPr/>
          <p:nvPr/>
        </p:nvSpPr>
        <p:spPr>
          <a:xfrm>
            <a:off x="508000" y="1079500"/>
            <a:ext cx="5397500" cy="635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EAD40B-FAE4-097F-61A5-9FC90B7B0C1E}"/>
              </a:ext>
            </a:extLst>
          </p:cNvPr>
          <p:cNvSpPr txBox="1"/>
          <p:nvPr/>
        </p:nvSpPr>
        <p:spPr>
          <a:xfrm>
            <a:off x="698500" y="12319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59669"/>
                </a:solidFill>
                <a:latin typeface="Segoe UI" panose="020B0502040204020203" pitchFamily="34" charset="0"/>
              </a:rPr>
              <a:t>1. ZERO FRAUD AND 100% PROOF VERIFICATION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EB90D3-F467-954E-EB9E-2EE394A702A0}"/>
              </a:ext>
            </a:extLst>
          </p:cNvPr>
          <p:cNvSpPr txBox="1"/>
          <p:nvPr/>
        </p:nvSpPr>
        <p:spPr>
          <a:xfrm>
            <a:off x="698500" y="1511300"/>
            <a:ext cx="501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Segoe UI" panose="020B0502040204020203" pitchFamily="34" charset="0"/>
              </a:rPr>
              <a:t>Restoring Public Trust in Digital Philanthropy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0D2A1-1152-ADCA-58F3-2F486378604E}"/>
              </a:ext>
            </a:extLst>
          </p:cNvPr>
          <p:cNvSpPr txBox="1"/>
          <p:nvPr/>
        </p:nvSpPr>
        <p:spPr>
          <a:xfrm>
            <a:off x="698500" y="1790700"/>
            <a:ext cx="50165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Pre-Screened Aid: No request reaches donors without verifiable documentation (bills, IDs, income certificates).
- Local Volunteer Audit: Eliminates AI-generated or fabricated distress campaigns.
- Donor Confidence: Donors contribute with absolute certainty that help reaches real families in distress.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0467E7-55E9-7C5D-C6A2-2884584EDB68}"/>
              </a:ext>
            </a:extLst>
          </p:cNvPr>
          <p:cNvSpPr/>
          <p:nvPr/>
        </p:nvSpPr>
        <p:spPr>
          <a:xfrm>
            <a:off x="6286500" y="1079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350461-A316-9305-8C8B-CE63F3B95FBE}"/>
              </a:ext>
            </a:extLst>
          </p:cNvPr>
          <p:cNvSpPr/>
          <p:nvPr/>
        </p:nvSpPr>
        <p:spPr>
          <a:xfrm>
            <a:off x="6286500" y="1079500"/>
            <a:ext cx="53975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E9D612-96AE-04B6-8862-E7A7962C2E47}"/>
              </a:ext>
            </a:extLst>
          </p:cNvPr>
          <p:cNvSpPr txBox="1"/>
          <p:nvPr/>
        </p:nvSpPr>
        <p:spPr>
          <a:xfrm>
            <a:off x="6477000" y="12319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Segoe UI" panose="020B0502040204020203" pitchFamily="34" charset="0"/>
              </a:rPr>
              <a:t>2. DUAL-STREAM MODEL (URGENT AID + SURPLUS)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F5A5A-A0CE-F1C8-BF46-711A10B29E12}"/>
              </a:ext>
            </a:extLst>
          </p:cNvPr>
          <p:cNvSpPr txBox="1"/>
          <p:nvPr/>
        </p:nvSpPr>
        <p:spPr>
          <a:xfrm>
            <a:off x="6477000" y="1511300"/>
            <a:ext cx="501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Segoe UI" panose="020B0502040204020203" pitchFamily="34" charset="0"/>
              </a:rPr>
              <a:t>Comprehensive Social Assistance Beyond Money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0E78B-68E3-EF87-1830-E1B765B56BD1}"/>
              </a:ext>
            </a:extLst>
          </p:cNvPr>
          <p:cNvSpPr txBox="1"/>
          <p:nvPr/>
        </p:nvSpPr>
        <p:spPr>
          <a:xfrm>
            <a:off x="6477000" y="1790700"/>
            <a:ext cx="5016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Solves Two Critical Needs: Supports both life-saving medical/ration needs and daily household item sharing.
- Waste Reduction: Diverts usable clothing, books, and appliances from landfills directly to needy homes.
- Community Empowerment: Fosters a local circular economy of giving and mutual neighbor support.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03794C-EA5F-1B51-E787-63902C0336FC}"/>
              </a:ext>
            </a:extLst>
          </p:cNvPr>
          <p:cNvSpPr/>
          <p:nvPr/>
        </p:nvSpPr>
        <p:spPr>
          <a:xfrm>
            <a:off x="508000" y="3746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1CD83A-6340-DE6C-D482-0F79C631DD34}"/>
              </a:ext>
            </a:extLst>
          </p:cNvPr>
          <p:cNvSpPr/>
          <p:nvPr/>
        </p:nvSpPr>
        <p:spPr>
          <a:xfrm>
            <a:off x="508000" y="3746500"/>
            <a:ext cx="5397500" cy="63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7268E-2E67-65B5-D2EF-3C3E537EA0F0}"/>
              </a:ext>
            </a:extLst>
          </p:cNvPr>
          <p:cNvSpPr txBox="1"/>
          <p:nvPr/>
        </p:nvSpPr>
        <p:spPr>
          <a:xfrm>
            <a:off x="698500" y="38989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D97706"/>
                </a:solidFill>
                <a:latin typeface="Segoe UI" panose="020B0502040204020203" pitchFamily="34" charset="0"/>
              </a:rPr>
              <a:t>3. DIRECT P2P CONNECTION WITH 0% COMMISSION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DF6C93-E9B7-7AEA-F623-10539B85ADCE}"/>
              </a:ext>
            </a:extLst>
          </p:cNvPr>
          <p:cNvSpPr txBox="1"/>
          <p:nvPr/>
        </p:nvSpPr>
        <p:spPr>
          <a:xfrm>
            <a:off x="698500" y="4178300"/>
            <a:ext cx="501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Segoe UI" panose="020B0502040204020203" pitchFamily="34" charset="0"/>
              </a:rPr>
              <a:t>Maximizing Impact Without Financial Intermediaries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97209-5855-398C-5504-FF23F16D6F3F}"/>
              </a:ext>
            </a:extLst>
          </p:cNvPr>
          <p:cNvSpPr txBox="1"/>
          <p:nvPr/>
        </p:nvSpPr>
        <p:spPr>
          <a:xfrm>
            <a:off x="698500" y="4457700"/>
            <a:ext cx="5016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No Middleman Deductions: Traditional fundraising portals take up to 25% for platform fees; Charity Connect charges zero.
- Transparent Status: Beneficiaries and donors track every step from creation to delivery acknowledgment.
- Rapid Fulfillment: Eliminates lengthy administrative bureaucracy, expediting emergency assistance.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107F1A-3F48-D3D6-C38E-0AEFDDF49800}"/>
              </a:ext>
            </a:extLst>
          </p:cNvPr>
          <p:cNvSpPr/>
          <p:nvPr/>
        </p:nvSpPr>
        <p:spPr>
          <a:xfrm>
            <a:off x="6286500" y="3746500"/>
            <a:ext cx="5397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04A939-00C0-91C0-19F8-6F3DDE4DCC9A}"/>
              </a:ext>
            </a:extLst>
          </p:cNvPr>
          <p:cNvSpPr/>
          <p:nvPr/>
        </p:nvSpPr>
        <p:spPr>
          <a:xfrm>
            <a:off x="6286500" y="3746500"/>
            <a:ext cx="5397500" cy="635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BD58B0-70CB-7335-3FEB-7C4784FD17AF}"/>
              </a:ext>
            </a:extLst>
          </p:cNvPr>
          <p:cNvSpPr txBox="1"/>
          <p:nvPr/>
        </p:nvSpPr>
        <p:spPr>
          <a:xfrm>
            <a:off x="6477000" y="38989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6D28D9"/>
                </a:solidFill>
                <a:latin typeface="Segoe UI" panose="020B0502040204020203" pitchFamily="34" charset="0"/>
              </a:rPr>
              <a:t>4. DEFENSE-IN-DEPTH DATA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E13A9-785C-E165-2F7F-19C38EAA0712}"/>
              </a:ext>
            </a:extLst>
          </p:cNvPr>
          <p:cNvSpPr txBox="1"/>
          <p:nvPr/>
        </p:nvSpPr>
        <p:spPr>
          <a:xfrm>
            <a:off x="6477000" y="4178300"/>
            <a:ext cx="501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Segoe UI" panose="020B0502040204020203" pitchFamily="34" charset="0"/>
              </a:rPr>
              <a:t>Enterprise-Grade Engineering Standards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F6E2AA-46D4-DC07-9E60-8525F7A13D92}"/>
              </a:ext>
            </a:extLst>
          </p:cNvPr>
          <p:cNvSpPr txBox="1"/>
          <p:nvPr/>
        </p:nvSpPr>
        <p:spPr>
          <a:xfrm>
            <a:off x="6477000" y="4457700"/>
            <a:ext cx="5016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1E293B"/>
                </a:solidFill>
                <a:latin typeface="Segoe UI" panose="020B0502040204020203" pitchFamily="34" charset="0"/>
              </a:rPr>
              <a:t>- Rigorous Input Sanitization: Strict 10-digit mobile phone enforcement across all forms and API endpoints.
- Multi-Tab Session Isolation: Full separation of roles enables simultaneous work without token collisions.
- SQL Injection and XSS Protection: Prepared parameterized queries and bcrypt cryptographic password security.</a:t>
            </a:r>
          </a:p>
        </p:txBody>
      </p:sp>
    </p:spTree>
    <p:extLst>
      <p:ext uri="{BB962C8B-B14F-4D97-AF65-F5344CB8AC3E}">
        <p14:creationId xmlns:p14="http://schemas.microsoft.com/office/powerpoint/2010/main" val="683251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1A425D-5E5F-AA5A-8F6C-B31659781D15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77CCA-E515-2D52-25D7-98A686EE9D17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9A150-5992-CA92-974F-43A55F807929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6. STAKEHOLDER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094EE-5F07-673F-AC11-27D0C7E2FC0F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How Charity Connect Empowers and Helps Users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1D6F9D-6C46-7407-FCA1-1713686ED330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7/8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8BE7E-84C7-1335-A017-7BD1FAF7CF78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39873-0889-55D8-F863-83983BC3CE60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A8B09-4237-CF1E-3664-6DD05F0B5634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281D88-DBB0-4D17-ABF0-6DD5345B0E53}"/>
              </a:ext>
            </a:extLst>
          </p:cNvPr>
          <p:cNvSpPr/>
          <p:nvPr/>
        </p:nvSpPr>
        <p:spPr>
          <a:xfrm>
            <a:off x="508000" y="1079500"/>
            <a:ext cx="34925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797F80-F695-2615-FD0E-498E5B673FA4}"/>
              </a:ext>
            </a:extLst>
          </p:cNvPr>
          <p:cNvSpPr/>
          <p:nvPr/>
        </p:nvSpPr>
        <p:spPr>
          <a:xfrm>
            <a:off x="508000" y="1079500"/>
            <a:ext cx="3492500" cy="50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D84AD-E526-4FF8-2190-89D87EAAA7B0}"/>
              </a:ext>
            </a:extLst>
          </p:cNvPr>
          <p:cNvSpPr txBox="1"/>
          <p:nvPr/>
        </p:nvSpPr>
        <p:spPr>
          <a:xfrm>
            <a:off x="635000" y="1181100"/>
            <a:ext cx="323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FOR BENEFICIARIES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F91C2-5ACD-1646-959F-DBD56484A683}"/>
              </a:ext>
            </a:extLst>
          </p:cNvPr>
          <p:cNvSpPr txBox="1"/>
          <p:nvPr/>
        </p:nvSpPr>
        <p:spPr>
          <a:xfrm>
            <a:off x="698500" y="1714500"/>
            <a:ext cx="31115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Dignified and Accessible Aid:
- Preserves Dignity: No need to publicly plead on social media; applications are submitted confidentially through a structured platform.
- Fast Emergency Response: Vetted requests get immediate visibility on donor feeds without waiting weeks for NGO approvals.
- Direct Community Support: Receive essential items (food, clothes, study materials, medical aid) directly at zero personal cost.
- Real-Time Progress: Track when an item is pledged, dispatched, and delivered.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CB90A2-7863-5662-99EF-7C368BE43582}"/>
              </a:ext>
            </a:extLst>
          </p:cNvPr>
          <p:cNvSpPr/>
          <p:nvPr/>
        </p:nvSpPr>
        <p:spPr>
          <a:xfrm>
            <a:off x="4343400" y="1079500"/>
            <a:ext cx="34925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8B25C-49E0-C8BB-468A-388AB07A53CA}"/>
              </a:ext>
            </a:extLst>
          </p:cNvPr>
          <p:cNvSpPr/>
          <p:nvPr/>
        </p:nvSpPr>
        <p:spPr>
          <a:xfrm>
            <a:off x="4343400" y="1079500"/>
            <a:ext cx="3492500" cy="5080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B48410-ACA7-42C2-D60C-4DC82F76C80C}"/>
              </a:ext>
            </a:extLst>
          </p:cNvPr>
          <p:cNvSpPr txBox="1"/>
          <p:nvPr/>
        </p:nvSpPr>
        <p:spPr>
          <a:xfrm>
            <a:off x="4470400" y="1181100"/>
            <a:ext cx="323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FOR DONORS AND CITIZENS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564BD-6579-7D51-0CCF-33DD77DCC047}"/>
              </a:ext>
            </a:extLst>
          </p:cNvPr>
          <p:cNvSpPr txBox="1"/>
          <p:nvPr/>
        </p:nvSpPr>
        <p:spPr>
          <a:xfrm>
            <a:off x="4533900" y="1714500"/>
            <a:ext cx="3111500" cy="270843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Confidence and Meaningful Giving:
- 100% Genuine Causes: Assurance that every rupee or item donated reaches a vetted individual who genuinely needs it.
- Declutter Responsibly: Easily donate surplus clothes, textbooks, electronics, and furniture instead of discarding them.
- Targeted Giving: Search by category (Medical, Education, Food) to support causes closest to your heart.
- Fulfillment Closure: Witness the direct impact of your contributions through completion confirmations.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3584F4-CAB8-2DF9-3C2C-8BAB5CE1290F}"/>
              </a:ext>
            </a:extLst>
          </p:cNvPr>
          <p:cNvSpPr/>
          <p:nvPr/>
        </p:nvSpPr>
        <p:spPr>
          <a:xfrm>
            <a:off x="8191500" y="1079500"/>
            <a:ext cx="34925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76812-47B4-6D2B-A11F-AF726E474487}"/>
              </a:ext>
            </a:extLst>
          </p:cNvPr>
          <p:cNvSpPr/>
          <p:nvPr/>
        </p:nvSpPr>
        <p:spPr>
          <a:xfrm>
            <a:off x="8191500" y="1079500"/>
            <a:ext cx="3492500" cy="508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B53D74-4F49-6443-92F2-562700FD8E32}"/>
              </a:ext>
            </a:extLst>
          </p:cNvPr>
          <p:cNvSpPr txBox="1"/>
          <p:nvPr/>
        </p:nvSpPr>
        <p:spPr>
          <a:xfrm>
            <a:off x="8318500" y="1181100"/>
            <a:ext cx="323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FOR VOLUNTEERS AND SOCIETY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F1AD38-0CC4-155F-1211-4EE7FCA427C3}"/>
              </a:ext>
            </a:extLst>
          </p:cNvPr>
          <p:cNvSpPr txBox="1"/>
          <p:nvPr/>
        </p:nvSpPr>
        <p:spPr>
          <a:xfrm>
            <a:off x="8382000" y="1714500"/>
            <a:ext cx="3111500" cy="270843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Empowerment and Sustainability:
- Structured Volunteerism: Provides local youth and social workers with a verified platform to actively serve their community.
- Environmental Sustainability: Promotes reuse and recycling of everyday materials, reducing urban waste.
- Strengthening Community Bonds: Connects neighbors and builds mutual trust across diverse socioeconomic segments.
- Transparent Data Insights: Helps administrators and local leaders pinpoint areas of greatest community deprivation.</a:t>
            </a:r>
          </a:p>
        </p:txBody>
      </p:sp>
    </p:spTree>
    <p:extLst>
      <p:ext uri="{BB962C8B-B14F-4D97-AF65-F5344CB8AC3E}">
        <p14:creationId xmlns:p14="http://schemas.microsoft.com/office/powerpoint/2010/main" val="426616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3C75F-829B-9164-45EF-A78F9711F0F8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DF632-F55C-B88A-0396-3D919A7BAC69}"/>
              </a:ext>
            </a:extLst>
          </p:cNvPr>
          <p:cNvSpPr/>
          <p:nvPr/>
        </p:nvSpPr>
        <p:spPr>
          <a:xfrm>
            <a:off x="0" y="825500"/>
            <a:ext cx="12192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25446-AB3C-EDDA-AC24-A1CD048BF18B}"/>
              </a:ext>
            </a:extLst>
          </p:cNvPr>
          <p:cNvSpPr txBox="1"/>
          <p:nvPr/>
        </p:nvSpPr>
        <p:spPr>
          <a:xfrm>
            <a:off x="508000" y="101600"/>
            <a:ext cx="1016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60A5FA"/>
                </a:solidFill>
                <a:latin typeface="Segoe UI" panose="020B0502040204020203" pitchFamily="34" charset="0"/>
              </a:rPr>
              <a:t>7. EVALUATION AND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8B031-31F3-59A1-9CEC-66F0503F9AED}"/>
              </a:ext>
            </a:extLst>
          </p:cNvPr>
          <p:cNvSpPr txBox="1"/>
          <p:nvPr/>
        </p:nvSpPr>
        <p:spPr>
          <a:xfrm>
            <a:off x="508000" y="330200"/>
            <a:ext cx="10160000" cy="3385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Project Conclusion and Future Enhancements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763015-9EA7-04DC-686A-B1AE7B37B493}"/>
              </a:ext>
            </a:extLst>
          </p:cNvPr>
          <p:cNvSpPr/>
          <p:nvPr/>
        </p:nvSpPr>
        <p:spPr>
          <a:xfrm>
            <a:off x="11049000" y="228600"/>
            <a:ext cx="635000" cy="330200"/>
          </a:xfrm>
          <a:prstGeom prst="round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8/8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2828C4-9F0C-02D1-B522-E6FB3D735A9B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F63D3-A6F9-71AE-81C5-27002D25C339}"/>
              </a:ext>
            </a:extLst>
          </p:cNvPr>
          <p:cNvSpPr txBox="1"/>
          <p:nvPr/>
        </p:nvSpPr>
        <p:spPr>
          <a:xfrm>
            <a:off x="508000" y="6477000"/>
            <a:ext cx="7620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Charity Connect - Online Charity Management System | 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4D648-F8D2-7EE3-B9CA-A767C3E656B3}"/>
              </a:ext>
            </a:extLst>
          </p:cNvPr>
          <p:cNvSpPr txBox="1"/>
          <p:nvPr/>
        </p:nvSpPr>
        <p:spPr>
          <a:xfrm>
            <a:off x="9398000" y="6477000"/>
            <a:ext cx="228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Social Welfare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743B20-9D52-3022-81ED-C021291B776B}"/>
              </a:ext>
            </a:extLst>
          </p:cNvPr>
          <p:cNvSpPr/>
          <p:nvPr/>
        </p:nvSpPr>
        <p:spPr>
          <a:xfrm>
            <a:off x="508000" y="1079500"/>
            <a:ext cx="5397500" cy="438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057167-4933-DA01-5152-4555C731A83F}"/>
              </a:ext>
            </a:extLst>
          </p:cNvPr>
          <p:cNvSpPr/>
          <p:nvPr/>
        </p:nvSpPr>
        <p:spPr>
          <a:xfrm>
            <a:off x="508000" y="1079500"/>
            <a:ext cx="5397500" cy="76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C2612-4BC4-10D3-AD77-0EB40F83A515}"/>
              </a:ext>
            </a:extLst>
          </p:cNvPr>
          <p:cNvSpPr txBox="1"/>
          <p:nvPr/>
        </p:nvSpPr>
        <p:spPr>
          <a:xfrm>
            <a:off x="698500" y="12700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PROJECT ACHIEVEMENTS AND 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98C58-D4B4-BB02-23ED-095DB7FAC8E6}"/>
              </a:ext>
            </a:extLst>
          </p:cNvPr>
          <p:cNvSpPr txBox="1"/>
          <p:nvPr/>
        </p:nvSpPr>
        <p:spPr>
          <a:xfrm>
            <a:off x="698500" y="1714500"/>
            <a:ext cx="5016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- Fully Functional End-to-End System: Developed and tested an all-in-one social platform incorporating Beneficiaries, Donors, Volunteers, and Administrators.
- Eradicated Fake Campaigns: Successfully demonstrated that a multi-tier volunteer verification engine completely prevents fraudulent appeals.
- Robust Architecture and Security: Enforced defense-in-depth data validations (10-digit mobile, file upload integrity, JWT authentication, and isolated multi-role sessions).
- Comprehensive Philanthropy: Effectively bridges immediate crisis aid and daily community surplus redistribution with zero intermediary costs.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1773DE-370D-8C12-146B-21C059D3F802}"/>
              </a:ext>
            </a:extLst>
          </p:cNvPr>
          <p:cNvSpPr/>
          <p:nvPr/>
        </p:nvSpPr>
        <p:spPr>
          <a:xfrm>
            <a:off x="6286500" y="1079500"/>
            <a:ext cx="5397500" cy="438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E5237-F166-C188-B23D-4DB6FE03364F}"/>
              </a:ext>
            </a:extLst>
          </p:cNvPr>
          <p:cNvSpPr/>
          <p:nvPr/>
        </p:nvSpPr>
        <p:spPr>
          <a:xfrm>
            <a:off x="6286500" y="1079500"/>
            <a:ext cx="53975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E9DB3-119A-134F-342D-857D86B8DBB4}"/>
              </a:ext>
            </a:extLst>
          </p:cNvPr>
          <p:cNvSpPr txBox="1"/>
          <p:nvPr/>
        </p:nvSpPr>
        <p:spPr>
          <a:xfrm>
            <a:off x="6477000" y="12700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Segoe UI" panose="020B0502040204020203" pitchFamily="34" charset="0"/>
              </a:rPr>
              <a:t>FUTURE ENHANCEMENTS AND ROADMAP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E8ED2C-1186-ED65-F81D-48EA0A760228}"/>
              </a:ext>
            </a:extLst>
          </p:cNvPr>
          <p:cNvSpPr txBox="1"/>
          <p:nvPr/>
        </p:nvSpPr>
        <p:spPr>
          <a:xfrm>
            <a:off x="6477000" y="1714500"/>
            <a:ext cx="50165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E293B"/>
                </a:solidFill>
                <a:latin typeface="Segoe UI" panose="020B0502040204020203" pitchFamily="34" charset="0"/>
              </a:rPr>
              <a:t>- Online Payment Gateway Integration: Support direct monetary micro-donations via Razorpay or Stripe for emergency medical treatments.
- Cross-Platform Mobile App: Native iOS and Android apps built with React Native for instant camera proof uploads.
- AI and OCR Document Verification: Automated optical character recognition to detect forged medical certificates and ID cards.
- GPS-Based Volunteer Dispatch: Geo-location matching to automatically assign verification tasks to nearest neighborhood volunteers.
- Logistics and Delivery Tracking: Integration with courier APIs for automated parcel pickup and delivery tracking.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70CA4E-C6BB-309A-716E-7200CA90F2AA}"/>
              </a:ext>
            </a:extLst>
          </p:cNvPr>
          <p:cNvSpPr/>
          <p:nvPr/>
        </p:nvSpPr>
        <p:spPr>
          <a:xfrm>
            <a:off x="508000" y="5651500"/>
            <a:ext cx="11176000" cy="635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EC533-D16D-2A26-971D-800916668607}"/>
              </a:ext>
            </a:extLst>
          </p:cNvPr>
          <p:cNvSpPr txBox="1"/>
          <p:nvPr/>
        </p:nvSpPr>
        <p:spPr>
          <a:xfrm>
            <a:off x="635000" y="57785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60A5FA"/>
                </a:solidFill>
                <a:latin typeface="Segoe UI" panose="020B0502040204020203" pitchFamily="34" charset="0"/>
              </a:rPr>
              <a:t>THANK YOU! QUESTIONS AND DISCUSSION WELCOMED</a:t>
            </a:r>
          </a:p>
        </p:txBody>
      </p:sp>
    </p:spTree>
    <p:extLst>
      <p:ext uri="{BB962C8B-B14F-4D97-AF65-F5344CB8AC3E}">
        <p14:creationId xmlns:p14="http://schemas.microsoft.com/office/powerpoint/2010/main" val="2837526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2210</Words>
  <Application>Microsoft Office PowerPoint</Application>
  <PresentationFormat>Custom</PresentationFormat>
  <Paragraphs>118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Ameena Kp</dc:creator>
  <cp:lastModifiedBy>Ameena Kp</cp:lastModifiedBy>
  <cp:revision>1</cp:revision>
  <dcterms:created xsi:type="dcterms:W3CDTF">2026-10-25T09:35:29Z</dcterms:created>
  <dcterms:modified xsi:type="dcterms:W3CDTF">2026-10-25T09:35:29Z</dcterms:modified>
</cp:coreProperties>
</file>