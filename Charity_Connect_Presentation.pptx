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1165-8B77-D6C6-6D5A-A24FD0531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8F284-130C-23BD-2ED0-49AD7F99A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B1E-1597-0CA2-DBA5-08DC3E27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CB98-AEF5-2BBB-2C47-F6A699C0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AE6A5-6C71-2D90-639C-94D4DABC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35CF-1D64-E782-2D79-E6BA26A6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0ADC-E587-A08D-ABB0-71D980BF7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0DAF-76B6-E548-AB08-A6434D5A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1CF62-51E2-D0CC-92AF-32BB0C9A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B1C7-2128-DA55-B7AA-E01769B7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4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CEB7-DC7A-04C1-51FB-AB9A0931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46D8F-416C-B20E-78F3-E5888821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0D6A6-D50C-26F5-BE86-BB0E6EA3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05EC-373E-210E-9B2F-40E57AE7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A501D-0E7B-B9C8-C3FE-98EB8CE7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101E-CB2D-AD99-DCAF-8B63EE56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FB13-CFF0-199E-D0DC-F674E5B66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F1698-44B5-152D-F921-987F5A605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7BFCC-1868-8A1E-86EF-657FF313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19EFA-CF61-76BA-3E46-1D140E4D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B14DB-5BFB-7296-1166-A1BA56C5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2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C231-89B6-80C1-C21E-5826C4AD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430A3-29BA-87FC-4B83-60072A487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39592-5BA1-B2F0-E74B-509F1C927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20CC7-0202-F58D-FB43-857322105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DE263-4D0A-E39C-5922-FDC2A1C81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1831D-3993-187E-DE0C-853B26F7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A28DC-E589-A924-FF50-4DABC00E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3A55A-DEFB-7239-2C53-2705C3CF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3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BDCC-3FD2-875B-8C8D-BAC512F5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628F0-9DB5-75F6-3FBE-8C818BA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164FD-E9A8-C5F4-5A7A-C7E8E5C8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D3981-59F6-559C-304B-E7C251A7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5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CD944-8B83-D723-6CA2-A1F4C92C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6F2C4-32B8-E5F0-12D0-25DD24B4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DC17-57C2-69AA-D032-E0F3F3CE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9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D473-696D-2FC1-C5B6-F9EDFC90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7D0B-2232-5577-EEC8-3C32BB528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1B4B5-2B93-4D1F-62B8-D74820C4A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AF0B4-4C02-8619-81F1-305C4E06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9CD89-1DE5-D0F5-D87E-EA4DF67B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9A2D1-19AA-5D1E-A94E-08641A97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DED5D-00C6-8D1F-5D51-459BD284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81F24-EADE-7DF2-8270-4A364F1AF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C7B4B-839C-30C1-531A-FD3340A11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7EEAB-52F7-F518-78C2-4759410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F1ED2-77BA-97D7-5A86-DF165042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204A4-16F4-A514-CD15-4774D99D7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7483-EBB1-9C58-059C-B51274CC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397C8-3D3E-244E-0C66-913CDD432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54756-F30D-6C0C-863E-E0A2B3C8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03F00-CBE8-DA31-152E-A90919D7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A2D81-BAA5-A8F9-2135-7C3C0B95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8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5B92B-5250-466F-ECCD-DAAF3FBDD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CF755-E5A0-8609-4E1B-AF6CF914D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530EA-22DA-2BCD-42B5-5784EBA5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D054E-08DF-6B25-E38F-D8697C45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4AB7-F88D-F360-542C-8FFFCFA2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7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25AF0-0D6B-F958-8E2D-A7821193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4C07D-CD4B-786F-8A59-D1CB8D7E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F42BF-355F-FB91-3302-EF04FAE50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68005-8FE3-447D-9ECD-B66D662D8AB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67767-1A94-D64A-2EDD-D92CED4A7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431D6-1F3D-2752-5B14-0DE9C257E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441DF-7D64-4E79-AE8F-7868E2EB9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6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336005-680C-531D-AB70-690821885EC2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C79AC-9DE3-6BBC-523A-F42757D8690D}"/>
              </a:ext>
            </a:extLst>
          </p:cNvPr>
          <p:cNvSpPr txBox="1"/>
          <p:nvPr/>
        </p:nvSpPr>
        <p:spPr>
          <a:xfrm>
            <a:off x="889000" y="1397000"/>
            <a:ext cx="1041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Segoe UI" panose="020B0502040204020203" pitchFamily="34" charset="0"/>
              </a:rPr>
              <a:t>CHARITY CONNECT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502E0-5FBB-A9B0-0C0A-EBB37039DF8A}"/>
              </a:ext>
            </a:extLst>
          </p:cNvPr>
          <p:cNvSpPr txBox="1"/>
          <p:nvPr/>
        </p:nvSpPr>
        <p:spPr>
          <a:xfrm>
            <a:off x="889000" y="2349500"/>
            <a:ext cx="1041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FDC593"/>
                </a:solidFill>
                <a:latin typeface="Segoe UI" panose="020B0502040204020203" pitchFamily="34" charset="0"/>
              </a:rPr>
              <a:t>Online Charity Management System with Multi-Tier Verification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9582E-047C-F1E7-2741-4685F80EDD2C}"/>
              </a:ext>
            </a:extLst>
          </p:cNvPr>
          <p:cNvSpPr/>
          <p:nvPr/>
        </p:nvSpPr>
        <p:spPr>
          <a:xfrm>
            <a:off x="889000" y="3302000"/>
            <a:ext cx="10414000" cy="2413000"/>
          </a:xfrm>
          <a:prstGeom prst="rect">
            <a:avLst/>
          </a:prstGeom>
          <a:solidFill>
            <a:srgbClr val="0E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BCEAD-1968-3D87-681C-A000F80C2DA9}"/>
              </a:ext>
            </a:extLst>
          </p:cNvPr>
          <p:cNvSpPr txBox="1"/>
          <p:nvPr/>
        </p:nvSpPr>
        <p:spPr>
          <a:xfrm>
            <a:off x="1206500" y="3492500"/>
            <a:ext cx="9779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Project Evaluation Presentation
â€¢ Domain: Full-Stack Web Development &amp; Social Humanitarian Technology
â€¢ Architecture: React.js (Frontend) + Node.js/Express.js (Backend) + MySQL (Database)
â€¢ Features: Unified Donor/Beneficiary Portal, Document Authentication, Item Pledging
â€¢ Evaluation Date: Today</a:t>
            </a:r>
          </a:p>
        </p:txBody>
      </p:sp>
    </p:spTree>
    <p:extLst>
      <p:ext uri="{BB962C8B-B14F-4D97-AF65-F5344CB8AC3E}">
        <p14:creationId xmlns:p14="http://schemas.microsoft.com/office/powerpoint/2010/main" val="326630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34907-1983-66A0-0C52-C7E5388F5C24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AB89F-CE08-BE02-B17C-8BFB133F00FB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31D3D-553D-2D68-C12A-95EE0451552B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Project Overview &amp; Problem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6BBF8C-F37B-2B74-82C7-F27E2BCA582D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DE005-F015-8555-13B3-64267A9EF6BF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A44DB-ADBF-C1FC-83B5-3768FA5589D2}"/>
              </a:ext>
            </a:extLst>
          </p:cNvPr>
          <p:cNvSpPr/>
          <p:nvPr/>
        </p:nvSpPr>
        <p:spPr>
          <a:xfrm>
            <a:off x="508000" y="1206500"/>
            <a:ext cx="5334000" cy="501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8A33F-9045-9D83-D7A2-D6B76EB4B9D6}"/>
              </a:ext>
            </a:extLst>
          </p:cNvPr>
          <p:cNvSpPr txBox="1"/>
          <p:nvPr/>
        </p:nvSpPr>
        <p:spPr>
          <a:xfrm>
            <a:off x="698500" y="1333500"/>
            <a:ext cx="4953000" cy="26930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Segoe UI" panose="020B0502040204020203" pitchFamily="34" charset="0"/>
              </a:rPr>
              <a:t>CHALLENGES IN CHARITY TODAY
â€¢ Unverified Social Media Appeals: Anyone can post fake aid requests, leading to widespread donation scams.
â€¢ Lack of Document Verification: Traditional drives lack formal validation of medical bills, identity proofs, or low-income claims.
â€¢ Fragmented Communication: Donors, beneficiaries, and volunteers operate in silos without centralized coordination.
â€¢ Zero Accountability: Donors rarely know if pledged items or money actually reached the intended recipient.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225F8-65D3-AFE1-3353-3FBF7967E364}"/>
              </a:ext>
            </a:extLst>
          </p:cNvPr>
          <p:cNvSpPr/>
          <p:nvPr/>
        </p:nvSpPr>
        <p:spPr>
          <a:xfrm>
            <a:off x="6350000" y="1206500"/>
            <a:ext cx="5334000" cy="50165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AF2EC-E9F5-DEA8-B28A-0CCDBBBD1F38}"/>
              </a:ext>
            </a:extLst>
          </p:cNvPr>
          <p:cNvSpPr txBox="1"/>
          <p:nvPr/>
        </p:nvSpPr>
        <p:spPr>
          <a:xfrm>
            <a:off x="6540500" y="1333500"/>
            <a:ext cx="4953000" cy="28931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1E293B"/>
                </a:solidFill>
                <a:latin typeface="Segoe UI" panose="020B0502040204020203" pitchFamily="34" charset="0"/>
              </a:rPr>
              <a:t>THE CHARITY CONNECT SOLUTION
â€¢ Centralized Web Ecosystem: A secure, automated platform bridging Donors, Beneficiaries, Verification Teams, and Admins.
â€¢ Single Dual-Purpose Account: Users can both apply for emergency assistance and donate resources without switching accounts.
â€¢ Mandatory Proof Review: Verification teams inspect uploaded identity files before appeals become publicly visible.
â€¢ Real-Time Handover Tracking: Full accountability from initial request submission to final delivery.</a:t>
            </a:r>
          </a:p>
        </p:txBody>
      </p:sp>
    </p:spTree>
    <p:extLst>
      <p:ext uri="{BB962C8B-B14F-4D97-AF65-F5344CB8AC3E}">
        <p14:creationId xmlns:p14="http://schemas.microsoft.com/office/powerpoint/2010/main" val="272463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61974-01A3-4B4F-EB06-13DEE7BBC302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B92EC-21D9-4131-0336-7201E1758D9E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D850D-3153-71CB-3B9D-B01F0E8B6496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Project Objectives &amp; Strategic Goals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2638A-29B6-266E-788D-518E9490C9E4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8B55B-9CA7-6718-A6E1-2257B2E27B55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CC057-9302-DDAF-03DD-972C22CF2615}"/>
              </a:ext>
            </a:extLst>
          </p:cNvPr>
          <p:cNvSpPr/>
          <p:nvPr/>
        </p:nvSpPr>
        <p:spPr>
          <a:xfrm>
            <a:off x="508000" y="1206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6B7CE-8131-6CD3-3BA4-D0D7026912F8}"/>
              </a:ext>
            </a:extLst>
          </p:cNvPr>
          <p:cNvSpPr txBox="1"/>
          <p:nvPr/>
        </p:nvSpPr>
        <p:spPr>
          <a:xfrm>
            <a:off x="698500" y="1333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1. Eliminate Fraudulent Appeals
Implement a strict verification workflow requiring official identity and medical proof documents before requests are published.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2810AB-5E03-3F58-8C4A-F986F285C96C}"/>
              </a:ext>
            </a:extLst>
          </p:cNvPr>
          <p:cNvSpPr/>
          <p:nvPr/>
        </p:nvSpPr>
        <p:spPr>
          <a:xfrm>
            <a:off x="6096000" y="1206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6951A-DF1E-4971-6D94-E82711E16D55}"/>
              </a:ext>
            </a:extLst>
          </p:cNvPr>
          <p:cNvSpPr txBox="1"/>
          <p:nvPr/>
        </p:nvSpPr>
        <p:spPr>
          <a:xfrm>
            <a:off x="6286500" y="1333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2. Unified User Experience
Provide a single, seamless portal where any citizen can act as both a recipient and a generous donor.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83BD8-A1C5-1662-3C5F-A7C8EA7807A0}"/>
              </a:ext>
            </a:extLst>
          </p:cNvPr>
          <p:cNvSpPr/>
          <p:nvPr/>
        </p:nvSpPr>
        <p:spPr>
          <a:xfrm>
            <a:off x="508000" y="2857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4AA89-B4DF-68F8-8778-E19EA087BACC}"/>
              </a:ext>
            </a:extLst>
          </p:cNvPr>
          <p:cNvSpPr txBox="1"/>
          <p:nvPr/>
        </p:nvSpPr>
        <p:spPr>
          <a:xfrm>
            <a:off x="698500" y="2984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3. Categorized Aid Distribution
Support targeted relief across 5 vital categories: Food, Clothing, Medicine, Education, and Shelter supplies.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93C46-F4DB-A4CF-2B9B-EB7C1D587930}"/>
              </a:ext>
            </a:extLst>
          </p:cNvPr>
          <p:cNvSpPr/>
          <p:nvPr/>
        </p:nvSpPr>
        <p:spPr>
          <a:xfrm>
            <a:off x="6096000" y="2857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BB382-5004-DB48-21B0-21E20F3036B7}"/>
              </a:ext>
            </a:extLst>
          </p:cNvPr>
          <p:cNvSpPr txBox="1"/>
          <p:nvPr/>
        </p:nvSpPr>
        <p:spPr>
          <a:xfrm>
            <a:off x="6286500" y="2984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4. End-to-End Handover Tracking
Digitally record and track the collection, status updates, and physical delivery of pledged supplies to beneficiaries.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87E3C7-CC93-DBDE-44A6-D4A0C3E72EFD}"/>
              </a:ext>
            </a:extLst>
          </p:cNvPr>
          <p:cNvSpPr/>
          <p:nvPr/>
        </p:nvSpPr>
        <p:spPr>
          <a:xfrm>
            <a:off x="508000" y="4508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D790DD-069D-8FE6-A32C-2D7AE3074FAC}"/>
              </a:ext>
            </a:extLst>
          </p:cNvPr>
          <p:cNvSpPr txBox="1"/>
          <p:nvPr/>
        </p:nvSpPr>
        <p:spPr>
          <a:xfrm>
            <a:off x="698500" y="4635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5. Administrative Governance
Equip administrators with tools to accredit verification teams, moderate user privileges, and generate audit reports.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2A348B-126A-5B6D-DB91-E240DB2F8966}"/>
              </a:ext>
            </a:extLst>
          </p:cNvPr>
          <p:cNvSpPr/>
          <p:nvPr/>
        </p:nvSpPr>
        <p:spPr>
          <a:xfrm>
            <a:off x="6096000" y="4508500"/>
            <a:ext cx="5334000" cy="1460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303C0-CDF7-53BE-9823-9CAEFE8FEE62}"/>
              </a:ext>
            </a:extLst>
          </p:cNvPr>
          <p:cNvSpPr txBox="1"/>
          <p:nvPr/>
        </p:nvSpPr>
        <p:spPr>
          <a:xfrm>
            <a:off x="6286500" y="4635500"/>
            <a:ext cx="4953000" cy="6694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1E293B"/>
                </a:solidFill>
                <a:latin typeface="Segoe UI" panose="020B0502040204020203" pitchFamily="34" charset="0"/>
              </a:rPr>
              <a:t>6. Transparency &amp; Public Trust
Restore donor confidence through verifiable records, real-time counters, and zero platform exploitation.</a:t>
            </a:r>
          </a:p>
        </p:txBody>
      </p:sp>
    </p:spTree>
    <p:extLst>
      <p:ext uri="{BB962C8B-B14F-4D97-AF65-F5344CB8AC3E}">
        <p14:creationId xmlns:p14="http://schemas.microsoft.com/office/powerpoint/2010/main" val="79198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A50F83-8A88-C10A-5DA2-4508436DFB13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BCE80-3ABF-702E-F7A4-2AC3E3214B80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SYSTEM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FD58E-F768-8304-8CDB-282D6715CF47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Existing System vs. Proposed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3A3F7-AC80-3485-9C89-DE8D4B7EB267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D0D20-9080-28AD-483F-0846EE0498B2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0ED9EF-42A8-9270-820C-28B88C152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86190"/>
              </p:ext>
            </p:extLst>
          </p:nvPr>
        </p:nvGraphicFramePr>
        <p:xfrm>
          <a:off x="508000" y="1206500"/>
          <a:ext cx="11176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888048296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11409704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732108511"/>
                    </a:ext>
                  </a:extLst>
                </a:gridCol>
              </a:tblGrid>
              <a:tr h="804333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Feature / 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Existing Manual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Proposed Charity Connect Platform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84717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Aid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Physical office visits, paper forms, informal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100% online application with document upload from 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045356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Fraud Prevention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Minimal or no verification; prone to deceptive appeals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Mandatory document review by accredited verification team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064943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Account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Fragmented or isolated roles across platforms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Single unified login for both donating and requesting 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698121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Donation Pledging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Vague monetary claims with high administrative leakage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Itemized pledging (e.g., exact kg of food, books, medicine)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5767"/>
                  </a:ext>
                </a:extLst>
              </a:tr>
              <a:tr h="804333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Handover &amp;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 tracking; donors are unaware of final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Real-time lifecycle tracking (Pending -&gt; Approved -&gt; Fulfilled)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276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19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89F975-DA62-637D-0D05-2F158839A37F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B10C4-38C2-F6AA-70EF-DB3703FB6FAB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78CA2-D48E-90B2-BEA5-21A077DD45EB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System Architecture &amp; Use Case 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0A7BB-6A04-4499-4259-0685ED8E66CB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D0F5F-7C09-8E02-5EC9-409B92157847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F812EB-7BD0-982C-4C54-317D5A7041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79500"/>
            <a:ext cx="3810000" cy="5207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AA56AF-F590-DCF9-CC28-E172E4D27A37}"/>
              </a:ext>
            </a:extLst>
          </p:cNvPr>
          <p:cNvSpPr/>
          <p:nvPr/>
        </p:nvSpPr>
        <p:spPr>
          <a:xfrm>
            <a:off x="4572000" y="1206500"/>
            <a:ext cx="7112000" cy="501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87EA6-63DC-4AED-FF3A-31DDBC1E6CB4}"/>
              </a:ext>
            </a:extLst>
          </p:cNvPr>
          <p:cNvSpPr txBox="1"/>
          <p:nvPr/>
        </p:nvSpPr>
        <p:spPr>
          <a:xfrm>
            <a:off x="4826000" y="1333500"/>
            <a:ext cx="66040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1E293B"/>
                </a:solidFill>
                <a:latin typeface="Segoe UI" panose="020B0502040204020203" pitchFamily="34" charset="0"/>
              </a:rPr>
              <a:t>MULTI-TIER ARCHITECTURE &amp; WORKFLOW
1. Presentation Layer (React.js + Bootstrap 5):
   â€¢ Responsive left-sidebar navigation drawer for seamless multi-portal browsing.
   â€¢ Interactive donor discovery with category badges (Food, Clothes, Medicine, etc.).
2. Application Layer (Node.js + Express.js REST APIs):
   â€¢ User, Team, Admin, Request, and Donation modular controllers.
   â€¢ Multer middleware for secure proof document uploads (PDF, PNG, JPG).
3. Data Persistence Layer (MySQL Database):
   â€¢ Relational integrity with foreign key constraints across users, pledges, and teams.
   â€¢ ACID compliant transactions ensuring zero record loss during donation handovers.
Core Verification Flow: Request Submitted -&gt; Document Stored -&gt; Team Review -&gt; Status Updated -&gt; Public Pledging -&gt; Handover Completed.</a:t>
            </a:r>
          </a:p>
        </p:txBody>
      </p:sp>
    </p:spTree>
    <p:extLst>
      <p:ext uri="{BB962C8B-B14F-4D97-AF65-F5344CB8AC3E}">
        <p14:creationId xmlns:p14="http://schemas.microsoft.com/office/powerpoint/2010/main" val="393918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A37821-3EC4-F6FD-2D99-8A8BD11E87E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8BAE9-A4D6-E2E4-05A7-806FA52D7825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A75B8-D646-0EF2-CF6A-A874A345A01C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Module Description - 3 Core User Roles</a:t>
            </a:r>
            <a:endParaRPr lang="en-US" sz="2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02C29-0269-DBA8-DA59-9114F1CDF2F6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1CB6C-1B39-2738-2EB1-76BD8D5671DC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0FEA7-B6DC-53D2-D85F-9D96CF3A0B0C}"/>
              </a:ext>
            </a:extLst>
          </p:cNvPr>
          <p:cNvSpPr/>
          <p:nvPr/>
        </p:nvSpPr>
        <p:spPr>
          <a:xfrm>
            <a:off x="508000" y="1206500"/>
            <a:ext cx="3619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3E687-5172-DA8B-DFB6-DC34434E7B7F}"/>
              </a:ext>
            </a:extLst>
          </p:cNvPr>
          <p:cNvSpPr/>
          <p:nvPr/>
        </p:nvSpPr>
        <p:spPr>
          <a:xfrm>
            <a:off x="508000" y="1206500"/>
            <a:ext cx="3619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9DB85C-9215-60A2-CD4C-300DFD67A8A6}"/>
              </a:ext>
            </a:extLst>
          </p:cNvPr>
          <p:cNvSpPr txBox="1"/>
          <p:nvPr/>
        </p:nvSpPr>
        <p:spPr>
          <a:xfrm>
            <a:off x="571500" y="1333500"/>
            <a:ext cx="3492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1. CITIZEN / USER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08FCC-0D26-2ABA-785F-C9AC6C81F828}"/>
              </a:ext>
            </a:extLst>
          </p:cNvPr>
          <p:cNvSpPr txBox="1"/>
          <p:nvPr/>
        </p:nvSpPr>
        <p:spPr>
          <a:xfrm>
            <a:off x="635000" y="1905000"/>
            <a:ext cx="3365500" cy="22159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â€¢ Single unified account for both Donors and Beneficiaries.
â€¢ Apply for aid with category, description, and required items.
â€¢ Upload identity cards and medical/need justification proofs.
â€¢ Browse verified charity requests and filter by urgency/category.
â€¢ Pledge donations (item quantities or financial assistance).
â€¢ Real-time status tracking from Pending to Approved and Fulfilled.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A0BFCE-568E-B847-0FE8-441C45162CCD}"/>
              </a:ext>
            </a:extLst>
          </p:cNvPr>
          <p:cNvSpPr/>
          <p:nvPr/>
        </p:nvSpPr>
        <p:spPr>
          <a:xfrm>
            <a:off x="4254500" y="1206500"/>
            <a:ext cx="3619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EA33F-E6F5-22A6-D387-6D5FCC5810E8}"/>
              </a:ext>
            </a:extLst>
          </p:cNvPr>
          <p:cNvSpPr/>
          <p:nvPr/>
        </p:nvSpPr>
        <p:spPr>
          <a:xfrm>
            <a:off x="4254500" y="1206500"/>
            <a:ext cx="3619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398FE5-2939-9FC0-7872-6F941364A0B8}"/>
              </a:ext>
            </a:extLst>
          </p:cNvPr>
          <p:cNvSpPr txBox="1"/>
          <p:nvPr/>
        </p:nvSpPr>
        <p:spPr>
          <a:xfrm>
            <a:off x="4318000" y="1333500"/>
            <a:ext cx="3492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2. VERIFICATION TEAM MODULE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8455B-E125-9DB3-A9A1-CA334772C163}"/>
              </a:ext>
            </a:extLst>
          </p:cNvPr>
          <p:cNvSpPr txBox="1"/>
          <p:nvPr/>
        </p:nvSpPr>
        <p:spPr>
          <a:xfrm>
            <a:off x="4381500" y="1905000"/>
            <a:ext cx="3365500" cy="22159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â€¢ Register with identification credentials (requires Admin approval).
â€¢ Access centralized queue of pending charity assistance requests.
â€¢ Inspect, download, and validate uploaded proof documents.
â€¢ Approve authentic applications for public listing on portal.
â€¢ Reject fraudulent claims with constructive feedback remarks.
â€¢ Coordinate donation collection and confirm physical handover.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577DA7-4731-6D4A-9127-D4F5C3E97EE8}"/>
              </a:ext>
            </a:extLst>
          </p:cNvPr>
          <p:cNvSpPr/>
          <p:nvPr/>
        </p:nvSpPr>
        <p:spPr>
          <a:xfrm>
            <a:off x="8001000" y="1206500"/>
            <a:ext cx="3619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8597D3-2161-75D7-2CAD-0634719B7CD5}"/>
              </a:ext>
            </a:extLst>
          </p:cNvPr>
          <p:cNvSpPr/>
          <p:nvPr/>
        </p:nvSpPr>
        <p:spPr>
          <a:xfrm>
            <a:off x="8001000" y="1206500"/>
            <a:ext cx="3619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37DA9-7F65-15DB-883E-B26CC666C2DA}"/>
              </a:ext>
            </a:extLst>
          </p:cNvPr>
          <p:cNvSpPr txBox="1"/>
          <p:nvPr/>
        </p:nvSpPr>
        <p:spPr>
          <a:xfrm>
            <a:off x="8064500" y="1333500"/>
            <a:ext cx="34925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3. ADMINISTRATOR MODULE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6E7E2-0DBA-264A-11F3-CCE3E321EA1F}"/>
              </a:ext>
            </a:extLst>
          </p:cNvPr>
          <p:cNvSpPr txBox="1"/>
          <p:nvPr/>
        </p:nvSpPr>
        <p:spPr>
          <a:xfrm>
            <a:off x="8128000" y="1905000"/>
            <a:ext cx="3365500" cy="22159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â€¢ Central dashboard with live platform statistics and metrics.
â€¢ Review and approve/reject Verification Team registrations.
â€¢ Manage user accounts with status controls (Active vs. Blocked).
â€¢ Real-time monitoring of all charity appeals and item pledges.
â€¢ Broadcast system-wide announcements and emergency alerts.
â€¢ Maintain audit logs and generate compliance summary reports.</a:t>
            </a:r>
          </a:p>
        </p:txBody>
      </p:sp>
    </p:spTree>
    <p:extLst>
      <p:ext uri="{BB962C8B-B14F-4D97-AF65-F5344CB8AC3E}">
        <p14:creationId xmlns:p14="http://schemas.microsoft.com/office/powerpoint/2010/main" val="348961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AACA90-C4DE-9400-495E-0AFF594E8634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9CC7F-60BC-88EA-3BB5-67568D98933B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DATABASE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C1CA2-B315-0176-A3FC-65DAF8269F1E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000" b="1">
                <a:solidFill>
                  <a:srgbClr val="FFFFFF"/>
                </a:solidFill>
                <a:latin typeface="Segoe UI" panose="020B0502040204020203" pitchFamily="34" charset="0"/>
              </a:rPr>
              <a:t>Database Schema: User &amp; Stakeholder Tables</a:t>
            </a:r>
            <a:endParaRPr lang="en-US" sz="2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BDFBB-6798-9C60-08DC-9BDEBE53EA90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6C519-631F-1686-C3C6-CCDA1972272E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D16F6C-E737-597E-BF6D-216C3DAA6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19142"/>
              </p:ext>
            </p:extLst>
          </p:nvPr>
        </p:nvGraphicFramePr>
        <p:xfrm>
          <a:off x="508000" y="1206500"/>
          <a:ext cx="533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10667019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529262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0029742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FIELD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7136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PRIMARY KEY, AUTO_INCREMENT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39938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9702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UNIQUE,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611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 (Hashed)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6623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DEFAULT CURRENT_TIMESTAMP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4137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8D7033F-2F63-F122-A890-EBA6A9AF2840}"/>
              </a:ext>
            </a:extLst>
          </p:cNvPr>
          <p:cNvSpPr txBox="1"/>
          <p:nvPr/>
        </p:nvSpPr>
        <p:spPr>
          <a:xfrm>
            <a:off x="508000" y="952500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E3A8A"/>
                </a:solidFill>
              </a:rPr>
              <a:t>Table: Admin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79CA73-C291-4B11-787E-6035BBCFF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810"/>
              </p:ext>
            </p:extLst>
          </p:nvPr>
        </p:nvGraphicFramePr>
        <p:xfrm>
          <a:off x="6350000" y="1206500"/>
          <a:ext cx="5334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84985332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60068375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575716926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FIELD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66794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team_id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PRIMARY KEY, AUTO_INCREMENT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11272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9223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UNIQUE,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89311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5997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4825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'PENDING','APPROVED','REJECTED'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90147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DEFAULT CURRENT_TIMESTAMP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37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7178C13-2415-BB4D-E6EB-72497AB92561}"/>
              </a:ext>
            </a:extLst>
          </p:cNvPr>
          <p:cNvSpPr txBox="1"/>
          <p:nvPr/>
        </p:nvSpPr>
        <p:spPr>
          <a:xfrm>
            <a:off x="6350000" y="952500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E3A8A"/>
                </a:solidFill>
              </a:rPr>
              <a:t>Table: Team (Verification Volunteers)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577124-8000-1099-B092-8A8A0A019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313794"/>
              </p:ext>
            </p:extLst>
          </p:nvPr>
        </p:nvGraphicFramePr>
        <p:xfrm>
          <a:off x="508000" y="4508500"/>
          <a:ext cx="111760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8354119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6076323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6701464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10526077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FIELD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CONSTRAINTS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BUSINESS 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6162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PRIMARY KEY, AUTO_INCREMENT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Unique identifier for citizen/donor/beneficiary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1978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name, email,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VARCHAR(255), 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NULL, UNIQUE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Citizen contact &amp; authentication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59417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password,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VARCHAR(255),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NOT NULL (Hashed)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Encrypted login key and delivery residence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8836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status, 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ENUM,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'Active', 'Blocked'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Account status governed by admin +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681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1EACFA5-261F-52C1-551B-BF0009695990}"/>
              </a:ext>
            </a:extLst>
          </p:cNvPr>
          <p:cNvSpPr txBox="1"/>
          <p:nvPr/>
        </p:nvSpPr>
        <p:spPr>
          <a:xfrm>
            <a:off x="508000" y="4254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E3A8A"/>
                </a:solidFill>
              </a:rPr>
              <a:t>Table: Users (Dual Donor &amp; Beneficiary Role)</a:t>
            </a:r>
          </a:p>
        </p:txBody>
      </p:sp>
    </p:spTree>
    <p:extLst>
      <p:ext uri="{BB962C8B-B14F-4D97-AF65-F5344CB8AC3E}">
        <p14:creationId xmlns:p14="http://schemas.microsoft.com/office/powerpoint/2010/main" val="179317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00D471-9047-1081-9C00-80B49956E97B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225AD-FEC2-02B6-28BE-ACBBA54899BC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DATABASE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9A2F8-5B10-F2A9-F5A6-1E4D19588456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Database Schema: Request &amp; Donation Tables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DD7E1-45A0-B55C-7591-A6312891CE57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65A52-130D-8227-7DCD-23EC24CE5768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704E33-15D1-6BA9-A1DD-319465B5E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235682"/>
              </p:ext>
            </p:extLst>
          </p:nvPr>
        </p:nvGraphicFramePr>
        <p:xfrm>
          <a:off x="508000" y="1333500"/>
          <a:ext cx="5334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7903679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04435324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8569281"/>
                    </a:ext>
                  </a:extLst>
                </a:gridCol>
              </a:tblGrid>
              <a:tr h="366889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FIELD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30057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Charity_id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PRIMARY KEY, AUTO_INCREMENT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27084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FOREIGN KEY -&gt; users(id)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24815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Food, Clothes, Medicine,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61509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Appeal Headline / 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17711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Detailed need justification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383130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Uploaded proof file path/URI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579639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'PENDING','APPROVED','REJECTED'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362543"/>
                  </a:ext>
                </a:extLst>
              </a:tr>
              <a:tr h="366889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DEFAULT CURRENT_TIMESTAMP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718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D9C7EC6-70BB-FA72-C836-25CEF4F60E34}"/>
              </a:ext>
            </a:extLst>
          </p:cNvPr>
          <p:cNvSpPr txBox="1"/>
          <p:nvPr/>
        </p:nvSpPr>
        <p:spPr>
          <a:xfrm>
            <a:off x="508000" y="1079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E3A8A"/>
                </a:solidFill>
              </a:rPr>
              <a:t>Table: Charity_request (Aid Applications)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EA27D8-BC7D-D29F-38C6-49ABECFBC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71946"/>
              </p:ext>
            </p:extLst>
          </p:nvPr>
        </p:nvGraphicFramePr>
        <p:xfrm>
          <a:off x="6350000" y="1333500"/>
          <a:ext cx="5334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61409738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68515086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72827245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FIELD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DATA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5104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Donation_id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PRIMARY KEY, AUTO_INCREMENT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769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Doner_id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FOREIGN KEY -&gt; users(id)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048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request_id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FOREIGN KEY -&gt; charity_request(Charity_id)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631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Item_name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Contributed item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8518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Quantity pledged / donated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5153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donation_status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'PENDING','COMPLETED'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0059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Donated_at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>
                          <a:solidFill>
                            <a:srgbClr val="1E293B"/>
                          </a:solidFill>
                          <a:latin typeface="Segoe UI" panose="020B0502040204020203" pitchFamily="34" charset="0"/>
                        </a:rPr>
                        <a:t>DEFAULT CURRENT_TIMESTAMP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301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1F245D9-AF5B-B38A-399B-080D36A83473}"/>
              </a:ext>
            </a:extLst>
          </p:cNvPr>
          <p:cNvSpPr txBox="1"/>
          <p:nvPr/>
        </p:nvSpPr>
        <p:spPr>
          <a:xfrm>
            <a:off x="6350000" y="10795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1E3A8A"/>
                </a:solidFill>
              </a:rPr>
              <a:t>Table: Donation (Pledges &amp; Handovers)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58FD56-5BDE-01F6-D324-F66DA6A0F1D2}"/>
              </a:ext>
            </a:extLst>
          </p:cNvPr>
          <p:cNvSpPr/>
          <p:nvPr/>
        </p:nvSpPr>
        <p:spPr>
          <a:xfrm>
            <a:off x="508000" y="4889500"/>
            <a:ext cx="11176000" cy="120650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FDB74-3EA5-B2BB-430E-0762CF7ED17D}"/>
              </a:ext>
            </a:extLst>
          </p:cNvPr>
          <p:cNvSpPr txBox="1"/>
          <p:nvPr/>
        </p:nvSpPr>
        <p:spPr>
          <a:xfrm>
            <a:off x="698500" y="5016500"/>
            <a:ext cx="1079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Segoe UI" panose="020B0502040204020203" pitchFamily="34" charset="0"/>
              </a:rPr>
              <a:t>RELATIONAL INTEGRITY &amp; BUSINESS RULES:
â€¢ Referential Cascades: user_id links every charity request directly to an authenticated applicant in users.
â€¢ Dual Foreign Key Binding: Each donation binds Doner_id (from users) and request_id (from charity_request).
â€¢ Audit Trail: Every table includes automatic TIMESTAMP tracking for regulatory reporting and handover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32859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6D7CF-3D74-52E8-C855-2B64F6779A59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01E6B-7B1E-5372-B3AA-ED75AA4FBF8B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TECHNICAL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96EFF-5B57-8C7D-F6FB-E85059ECC873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Technology Stack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33F64-5738-5A2D-2D4E-E5C7EF6056D6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04B21-758B-2CCD-2280-4CDB0B8A7386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99BA1-C14F-4F9E-65F9-7657D3FCB1A1}"/>
              </a:ext>
            </a:extLst>
          </p:cNvPr>
          <p:cNvSpPr/>
          <p:nvPr/>
        </p:nvSpPr>
        <p:spPr>
          <a:xfrm>
            <a:off x="508000" y="1206500"/>
            <a:ext cx="2730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327D1-3BA9-CF17-EF6A-7A454106BE5A}"/>
              </a:ext>
            </a:extLst>
          </p:cNvPr>
          <p:cNvSpPr/>
          <p:nvPr/>
        </p:nvSpPr>
        <p:spPr>
          <a:xfrm>
            <a:off x="508000" y="1206500"/>
            <a:ext cx="2730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FFAFA-171A-499E-1F49-8C18C1A00A42}"/>
              </a:ext>
            </a:extLst>
          </p:cNvPr>
          <p:cNvSpPr txBox="1"/>
          <p:nvPr/>
        </p:nvSpPr>
        <p:spPr>
          <a:xfrm>
            <a:off x="571500" y="1333500"/>
            <a:ext cx="26035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FRONTEND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79505-C7F5-5668-65AC-20D272676F05}"/>
              </a:ext>
            </a:extLst>
          </p:cNvPr>
          <p:cNvSpPr txBox="1"/>
          <p:nvPr/>
        </p:nvSpPr>
        <p:spPr>
          <a:xfrm>
            <a:off x="609600" y="1905000"/>
            <a:ext cx="2540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Segoe UI" panose="020B0502040204020203" pitchFamily="34" charset="0"/>
              </a:rPr>
              <a:t>â€¢ React.js (Single Page Application)
â€¢ Bootstrap 5 &amp; Custom CSS (Responsive UI)
â€¢ Bootstrap Icons (Visual Navigation)
â€¢ HTML5 / ES6+ JavaScript
â€¢ Axios / Fetch API (HTTP Communication)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160B-8653-AEAF-EA2B-9993292D0EE3}"/>
              </a:ext>
            </a:extLst>
          </p:cNvPr>
          <p:cNvSpPr/>
          <p:nvPr/>
        </p:nvSpPr>
        <p:spPr>
          <a:xfrm>
            <a:off x="3365500" y="1206500"/>
            <a:ext cx="2730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2F7DC-F6C9-3C01-D636-175E7209A1D2}"/>
              </a:ext>
            </a:extLst>
          </p:cNvPr>
          <p:cNvSpPr/>
          <p:nvPr/>
        </p:nvSpPr>
        <p:spPr>
          <a:xfrm>
            <a:off x="3365500" y="1206500"/>
            <a:ext cx="2730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3B688-7735-BEEA-26A0-C08326B77553}"/>
              </a:ext>
            </a:extLst>
          </p:cNvPr>
          <p:cNvSpPr txBox="1"/>
          <p:nvPr/>
        </p:nvSpPr>
        <p:spPr>
          <a:xfrm>
            <a:off x="3429000" y="1333500"/>
            <a:ext cx="26035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BACKEND &amp; API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38D5F3-1C74-8EEA-36FA-94A0EBFD2A66}"/>
              </a:ext>
            </a:extLst>
          </p:cNvPr>
          <p:cNvSpPr txBox="1"/>
          <p:nvPr/>
        </p:nvSpPr>
        <p:spPr>
          <a:xfrm>
            <a:off x="3467100" y="1905000"/>
            <a:ext cx="25400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Segoe UI" panose="020B0502040204020203" pitchFamily="34" charset="0"/>
              </a:rPr>
              <a:t>â€¢ Node.js Runtime Environment
â€¢ Express.js RESTful API Framework
â€¢ Multer (Multi-part Document Uploads)
â€¢ CORS &amp; Body-Parser Middleware
â€¢ Modular MVC Controller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24E62-1210-237E-42BB-703EB76F50EA}"/>
              </a:ext>
            </a:extLst>
          </p:cNvPr>
          <p:cNvSpPr/>
          <p:nvPr/>
        </p:nvSpPr>
        <p:spPr>
          <a:xfrm>
            <a:off x="6223000" y="1206500"/>
            <a:ext cx="2730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9276C6-A325-E9B2-D294-2DAF232DAB8A}"/>
              </a:ext>
            </a:extLst>
          </p:cNvPr>
          <p:cNvSpPr/>
          <p:nvPr/>
        </p:nvSpPr>
        <p:spPr>
          <a:xfrm>
            <a:off x="6223000" y="1206500"/>
            <a:ext cx="2730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E1904A-B89E-E0F5-AC3A-66195199914F}"/>
              </a:ext>
            </a:extLst>
          </p:cNvPr>
          <p:cNvSpPr txBox="1"/>
          <p:nvPr/>
        </p:nvSpPr>
        <p:spPr>
          <a:xfrm>
            <a:off x="6286500" y="1333500"/>
            <a:ext cx="26035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DATABASE &amp; PERSISTENCE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8694A-2A23-3C73-050F-79A7B4CD30C9}"/>
              </a:ext>
            </a:extLst>
          </p:cNvPr>
          <p:cNvSpPr txBox="1"/>
          <p:nvPr/>
        </p:nvSpPr>
        <p:spPr>
          <a:xfrm>
            <a:off x="6324600" y="1905000"/>
            <a:ext cx="2540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Segoe UI" panose="020B0502040204020203" pitchFamily="34" charset="0"/>
              </a:rPr>
              <a:t>â€¢ MySQL 8.0 Relational DBMS
â€¢ mysql2 Promise-based Connection Pool
â€¢ InnoDB Engine (ACID Transactions)
â€¢ Strict Foreign Key Constraints
â€¢ Static File Storage for Proof Documents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DF54E6-41D5-628F-2F12-0A79B5C302DD}"/>
              </a:ext>
            </a:extLst>
          </p:cNvPr>
          <p:cNvSpPr/>
          <p:nvPr/>
        </p:nvSpPr>
        <p:spPr>
          <a:xfrm>
            <a:off x="9080500" y="1206500"/>
            <a:ext cx="2730500" cy="50165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37305C-9C23-3826-7AC0-D08C266B9994}"/>
              </a:ext>
            </a:extLst>
          </p:cNvPr>
          <p:cNvSpPr/>
          <p:nvPr/>
        </p:nvSpPr>
        <p:spPr>
          <a:xfrm>
            <a:off x="9080500" y="1206500"/>
            <a:ext cx="2730500" cy="5715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6F17DB-F2C5-9D3F-917E-8340F0ECABE2}"/>
              </a:ext>
            </a:extLst>
          </p:cNvPr>
          <p:cNvSpPr txBox="1"/>
          <p:nvPr/>
        </p:nvSpPr>
        <p:spPr>
          <a:xfrm>
            <a:off x="9144000" y="1333500"/>
            <a:ext cx="26035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  <a:latin typeface="Segoe UI" panose="020B0502040204020203" pitchFamily="34" charset="0"/>
              </a:rPr>
              <a:t>DEV TOOLS &amp; ENVIRONMENT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D6CCC1-AB89-C135-1A63-9B81A5A08CD3}"/>
              </a:ext>
            </a:extLst>
          </p:cNvPr>
          <p:cNvSpPr txBox="1"/>
          <p:nvPr/>
        </p:nvSpPr>
        <p:spPr>
          <a:xfrm>
            <a:off x="9182100" y="1905000"/>
            <a:ext cx="25400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Segoe UI" panose="020B0502040204020203" pitchFamily="34" charset="0"/>
              </a:rPr>
              <a:t>â€¢ Visual Studio Code (IDE)
â€¢ Postman API Testing Suite
â€¢ Git &amp; GitHub Version Control
â€¢ Microsoft Edge / Chrome DevTools
â€¢ Node Automated API Runner</a:t>
            </a:r>
          </a:p>
        </p:txBody>
      </p:sp>
    </p:spTree>
    <p:extLst>
      <p:ext uri="{BB962C8B-B14F-4D97-AF65-F5344CB8AC3E}">
        <p14:creationId xmlns:p14="http://schemas.microsoft.com/office/powerpoint/2010/main" val="139760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B1A6E4-DE86-464D-4212-4A53302B13E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3A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6D373-72EF-CE47-9CFF-23CDF554CA0E}"/>
              </a:ext>
            </a:extLst>
          </p:cNvPr>
          <p:cNvSpPr txBox="1"/>
          <p:nvPr/>
        </p:nvSpPr>
        <p:spPr>
          <a:xfrm>
            <a:off x="508000" y="127000"/>
            <a:ext cx="1016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609AEB"/>
                </a:solidFill>
                <a:latin typeface="Segoe UI" panose="020B0502040204020203" pitchFamily="34" charset="0"/>
              </a:rPr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E222E-A1D4-4F49-404D-52A73BDB72D4}"/>
              </a:ext>
            </a:extLst>
          </p:cNvPr>
          <p:cNvSpPr txBox="1"/>
          <p:nvPr/>
        </p:nvSpPr>
        <p:spPr>
          <a:xfrm>
            <a:off x="508000" y="355600"/>
            <a:ext cx="101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Future Scope &amp; Enhancements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3C4F5-1A70-A8BE-077B-FFEB5D145987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4FF78-D4A2-3648-E3E4-D571D9B98F86}"/>
              </a:ext>
            </a:extLst>
          </p:cNvPr>
          <p:cNvSpPr txBox="1"/>
          <p:nvPr/>
        </p:nvSpPr>
        <p:spPr>
          <a:xfrm>
            <a:off x="508000" y="64516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B8A394"/>
                </a:solidFill>
                <a:latin typeface="Segoe UI" panose="020B0502040204020203" pitchFamily="34" charset="0"/>
              </a:rPr>
              <a:t>Charity Connect - Online Charity Management System | Project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E8A29F-B241-B222-8A5A-CFF4AA3544CA}"/>
              </a:ext>
            </a:extLst>
          </p:cNvPr>
          <p:cNvSpPr/>
          <p:nvPr/>
        </p:nvSpPr>
        <p:spPr>
          <a:xfrm>
            <a:off x="508000" y="1206500"/>
            <a:ext cx="11176000" cy="86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3ECE0-4A15-82C2-AD7B-02BE05F8C8E3}"/>
              </a:ext>
            </a:extLst>
          </p:cNvPr>
          <p:cNvSpPr/>
          <p:nvPr/>
        </p:nvSpPr>
        <p:spPr>
          <a:xfrm>
            <a:off x="508000" y="1206500"/>
            <a:ext cx="762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B6C47-B828-53A8-9922-4254F79AC925}"/>
              </a:ext>
            </a:extLst>
          </p:cNvPr>
          <p:cNvSpPr txBox="1"/>
          <p:nvPr/>
        </p:nvSpPr>
        <p:spPr>
          <a:xfrm>
            <a:off x="762000" y="13081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1. Payment Gateway Integration
Incorporate Razorpay or Stripe to allow direct, secure monetary donations alongside item-based contributions with automated 80G tax receipts.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E7035-7502-506B-8595-1A4C69C5E51A}"/>
              </a:ext>
            </a:extLst>
          </p:cNvPr>
          <p:cNvSpPr/>
          <p:nvPr/>
        </p:nvSpPr>
        <p:spPr>
          <a:xfrm>
            <a:off x="508000" y="2197100"/>
            <a:ext cx="11176000" cy="86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FA05B0-B9C1-C1D7-F9FE-E0253090D8A5}"/>
              </a:ext>
            </a:extLst>
          </p:cNvPr>
          <p:cNvSpPr/>
          <p:nvPr/>
        </p:nvSpPr>
        <p:spPr>
          <a:xfrm>
            <a:off x="508000" y="2197100"/>
            <a:ext cx="762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427D7-685E-FCE7-1161-409A6ECE7727}"/>
              </a:ext>
            </a:extLst>
          </p:cNvPr>
          <p:cNvSpPr txBox="1"/>
          <p:nvPr/>
        </p:nvSpPr>
        <p:spPr>
          <a:xfrm>
            <a:off x="762000" y="22987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2. Real-Time SMS &amp; Push Alerts
Implement Twilio and Firebase Cloud Messaging (FCM) to notify donors when their pledged aid is physically handed over to the beneficiary.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E1C080-DF0D-7700-164E-2F55FE50821F}"/>
              </a:ext>
            </a:extLst>
          </p:cNvPr>
          <p:cNvSpPr/>
          <p:nvPr/>
        </p:nvSpPr>
        <p:spPr>
          <a:xfrm>
            <a:off x="508000" y="3187700"/>
            <a:ext cx="11176000" cy="86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46B6B-757E-B931-9B4E-A5BF29123A82}"/>
              </a:ext>
            </a:extLst>
          </p:cNvPr>
          <p:cNvSpPr/>
          <p:nvPr/>
        </p:nvSpPr>
        <p:spPr>
          <a:xfrm>
            <a:off x="508000" y="3187700"/>
            <a:ext cx="762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7A0F5-A92E-E1E1-E5BC-0ED22C4F95DE}"/>
              </a:ext>
            </a:extLst>
          </p:cNvPr>
          <p:cNvSpPr txBox="1"/>
          <p:nvPr/>
        </p:nvSpPr>
        <p:spPr>
          <a:xfrm>
            <a:off x="762000" y="32893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3. Geo-Location &amp; Relief Camp Mapping
Integrate Google Maps API to visually display nearby emergency distribution centers, collection hubs, and disaster-affected zones.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5EB18D-65A6-9432-EA15-5E415347F977}"/>
              </a:ext>
            </a:extLst>
          </p:cNvPr>
          <p:cNvSpPr/>
          <p:nvPr/>
        </p:nvSpPr>
        <p:spPr>
          <a:xfrm>
            <a:off x="508000" y="4178300"/>
            <a:ext cx="11176000" cy="86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15F1B6-7A0A-E831-9F1F-683AFDB2BAE9}"/>
              </a:ext>
            </a:extLst>
          </p:cNvPr>
          <p:cNvSpPr/>
          <p:nvPr/>
        </p:nvSpPr>
        <p:spPr>
          <a:xfrm>
            <a:off x="508000" y="4178300"/>
            <a:ext cx="762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04BDEA-FD18-D860-0A32-9684BED4697D}"/>
              </a:ext>
            </a:extLst>
          </p:cNvPr>
          <p:cNvSpPr txBox="1"/>
          <p:nvPr/>
        </p:nvSpPr>
        <p:spPr>
          <a:xfrm>
            <a:off x="762000" y="42799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4. Native Mobile Application
Develop a React Native cross-platform mobile app equipped with barcode/QR code scanners for verification team field workers during handovers.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F6329-CDE1-2988-ECE5-DA036FAFA099}"/>
              </a:ext>
            </a:extLst>
          </p:cNvPr>
          <p:cNvSpPr/>
          <p:nvPr/>
        </p:nvSpPr>
        <p:spPr>
          <a:xfrm>
            <a:off x="508000" y="5168900"/>
            <a:ext cx="11176000" cy="863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F639E1-6202-C282-1B47-9BBB4DD4B95D}"/>
              </a:ext>
            </a:extLst>
          </p:cNvPr>
          <p:cNvSpPr/>
          <p:nvPr/>
        </p:nvSpPr>
        <p:spPr>
          <a:xfrm>
            <a:off x="508000" y="5168900"/>
            <a:ext cx="76200" cy="863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206477-D4E7-44D7-F31D-B89D4993134C}"/>
              </a:ext>
            </a:extLst>
          </p:cNvPr>
          <p:cNvSpPr txBox="1"/>
          <p:nvPr/>
        </p:nvSpPr>
        <p:spPr>
          <a:xfrm>
            <a:off x="762000" y="52705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1E293B"/>
                </a:solidFill>
                <a:latin typeface="Segoe UI" panose="020B0502040204020203" pitchFamily="34" charset="0"/>
              </a:rPr>
              <a:t>5. AI-Powered Proof Fraud Detection
Deploy OCR and computer vision algorithms to automatically detect digitally manipulated or duplicate medical certificates and identification cards.</a:t>
            </a:r>
          </a:p>
        </p:txBody>
      </p:sp>
    </p:spTree>
    <p:extLst>
      <p:ext uri="{BB962C8B-B14F-4D97-AF65-F5344CB8AC3E}">
        <p14:creationId xmlns:p14="http://schemas.microsoft.com/office/powerpoint/2010/main" val="607929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BA3135-B5A3-4738-D9A1-1ABA73428015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3DFB7-1036-C95E-2B2F-A8501CB3D18E}"/>
              </a:ext>
            </a:extLst>
          </p:cNvPr>
          <p:cNvSpPr txBox="1"/>
          <p:nvPr/>
        </p:nvSpPr>
        <p:spPr>
          <a:xfrm>
            <a:off x="889000" y="1143000"/>
            <a:ext cx="1041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CONCLUSION &amp;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914F2B-1717-258A-D354-F1AD1176D826}"/>
              </a:ext>
            </a:extLst>
          </p:cNvPr>
          <p:cNvSpPr/>
          <p:nvPr/>
        </p:nvSpPr>
        <p:spPr>
          <a:xfrm>
            <a:off x="889000" y="2095500"/>
            <a:ext cx="10414000" cy="2286000"/>
          </a:xfrm>
          <a:prstGeom prst="rect">
            <a:avLst/>
          </a:prstGeom>
          <a:solidFill>
            <a:srgbClr val="0E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2AE75-4588-B154-35F4-49CDDDEA26BB}"/>
              </a:ext>
            </a:extLst>
          </p:cNvPr>
          <p:cNvSpPr txBox="1"/>
          <p:nvPr/>
        </p:nvSpPr>
        <p:spPr>
          <a:xfrm>
            <a:off x="1206500" y="2222500"/>
            <a:ext cx="9779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KEY PROJECT TAKEAWAYS:
â€¢ Successfully built an end-to-end, production-ready Full Stack Charity Management Platform.
â€¢ Solved the critical trust deficit in online fundraising through mandatory document authentication.
â€¢ Empowered communities with a single unified account for both giving and receiving humanitarian aid.
â€¢ Fully tested REST APIs and a responsive React SaaS interface ready for real-world deployment.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CC000-855A-83DA-5952-B6820E6CF5E5}"/>
              </a:ext>
            </a:extLst>
          </p:cNvPr>
          <p:cNvSpPr txBox="1"/>
          <p:nvPr/>
        </p:nvSpPr>
        <p:spPr>
          <a:xfrm>
            <a:off x="889000" y="4762500"/>
            <a:ext cx="104140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FDC593"/>
                </a:solidFill>
                <a:latin typeface="Segoe UI" panose="020B0502040204020203" pitchFamily="34" charset="0"/>
              </a:rPr>
              <a:t>Thank You!
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009758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1991</Words>
  <Application>Microsoft Office PowerPoint</Application>
  <PresentationFormat>Custom</PresentationFormat>
  <Paragraphs>198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Ameena Kp</dc:creator>
  <cp:lastModifiedBy>Ameena Kp</cp:lastModifiedBy>
  <cp:revision>1</cp:revision>
  <dcterms:created xsi:type="dcterms:W3CDTF">2026-09-07T05:39:27Z</dcterms:created>
  <dcterms:modified xsi:type="dcterms:W3CDTF">2026-09-07T05:39:27Z</dcterms:modified>
</cp:coreProperties>
</file>